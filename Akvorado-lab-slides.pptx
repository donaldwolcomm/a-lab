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4" r:id="rId53"/>
    <p:sldId id="310" r:id="rId54"/>
    <p:sldId id="311" r:id="rId55"/>
    <p:sldId id="312" r:id="rId56"/>
    <p:sldId id="313" r:id="rId5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17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22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0021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2E186-DA92-0B2C-A913-F09FC422D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5A2CFB-6008-834F-C712-4979B4A0C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128FFC-41A1-72C0-9B2C-DEBA09D0FC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02169-87FE-2C3A-8E4A-A6D6E4A169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0770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838165"/>
            <a:ext cx="16953120" cy="39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35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 · FLOW COLLECTION LAB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330" y="2117912"/>
            <a:ext cx="16953120" cy="3646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5000" b="1" kern="0" spc="-525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Akvorado </a:t>
            </a:r>
            <a:r>
              <a:rPr lang="en-US" sz="15000" b="1" kern="0" spc="-525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Lab.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330" y="6335700"/>
            <a:ext cx="13735049" cy="1293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Deploying a flow collection stack with Docker — for the network engineers who'll actually run it.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330" y="8930912"/>
            <a:ext cx="3532591" cy="44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 Jolley </a:t>
            </a: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ZANOG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2572123" y="8930912"/>
            <a:ext cx="4945592" cy="44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 · 60 min · hands-on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12477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 lab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910251" y="342830"/>
            <a:ext cx="1539618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intro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THE END OF THIS SESSION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1315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flow stack — and the intuition to keep it running.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4206233"/>
            <a:ext cx="14287499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330" y="3647164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904825" y="3613547"/>
            <a:ext cx="8948882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fully operational Akvorado stack running in Docker on your lab VM.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330" y="4943370"/>
            <a:ext cx="14287499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330" y="4384301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904825" y="4350684"/>
            <a:ext cx="8098196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one network device exporting flows into your collector.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330" y="5680507"/>
            <a:ext cx="14287499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330" y="5121438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904825" y="5087820"/>
            <a:ext cx="6914594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traffic visibility in the Akvorado web interface.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14330" y="5858575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904825" y="5824957"/>
            <a:ext cx="8812001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mental model of NetFlow, sFlow, and sample rate trade-offs.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12477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 lab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910251" y="342830"/>
            <a:ext cx="1539618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intro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sections, one running stack.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2775557"/>
            <a:ext cx="827659" cy="786513"/>
          </a:xfrm>
          <a:prstGeom prst="roundRect">
            <a:avLst>
              <a:gd name="adj" fmla="val 3633"/>
            </a:avLst>
          </a:prstGeom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8886" y="2843913"/>
            <a:ext cx="614748" cy="687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94319" y="2765402"/>
            <a:ext cx="7015768" cy="844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fundamentals — what NetFlow and sFlow actually do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315240" y="2775557"/>
            <a:ext cx="845344" cy="786513"/>
          </a:xfrm>
          <a:prstGeom prst="roundRect">
            <a:avLst>
              <a:gd name="adj" fmla="val 3633"/>
            </a:avLst>
          </a:prstGeom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59795" y="2843913"/>
            <a:ext cx="632432" cy="687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312914" y="2765402"/>
            <a:ext cx="6997734" cy="844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rate math — sizing the router, collector, and disk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330" y="3743640"/>
            <a:ext cx="874234" cy="461542"/>
          </a:xfrm>
          <a:prstGeom prst="roundRect">
            <a:avLst>
              <a:gd name="adj" fmla="val 6191"/>
            </a:avLst>
          </a:prstGeom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8886" y="3811996"/>
            <a:ext cx="661322" cy="36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40894" y="3772705"/>
            <a:ext cx="5365975" cy="44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the Docker stack on a fresh VM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315240" y="3743640"/>
            <a:ext cx="874234" cy="461542"/>
          </a:xfrm>
          <a:prstGeom prst="roundRect">
            <a:avLst>
              <a:gd name="adj" fmla="val 6191"/>
            </a:avLst>
          </a:prstGeom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59795" y="3811996"/>
            <a:ext cx="661322" cy="36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341804" y="3772705"/>
            <a:ext cx="5386895" cy="44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MikroTik, Arista, Juniper, Cisco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14330" y="4376597"/>
            <a:ext cx="874234" cy="461542"/>
          </a:xfrm>
          <a:prstGeom prst="roundRect">
            <a:avLst>
              <a:gd name="adj" fmla="val 6191"/>
            </a:avLst>
          </a:prstGeom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58886" y="4444953"/>
            <a:ext cx="661322" cy="36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940894" y="4405662"/>
            <a:ext cx="4122138" cy="44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flows are actually arriving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315240" y="4376597"/>
            <a:ext cx="874234" cy="461542"/>
          </a:xfrm>
          <a:prstGeom prst="roundRect">
            <a:avLst>
              <a:gd name="adj" fmla="val 6191"/>
            </a:avLst>
          </a:prstGeom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459795" y="4444953"/>
            <a:ext cx="661322" cy="36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341804" y="4405662"/>
            <a:ext cx="3939449" cy="44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 when they aren't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14330" y="5009554"/>
            <a:ext cx="874234" cy="461542"/>
          </a:xfrm>
          <a:prstGeom prst="roundRect">
            <a:avLst>
              <a:gd name="adj" fmla="val 6191"/>
            </a:avLst>
          </a:prstGeom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58886" y="5077910"/>
            <a:ext cx="661322" cy="36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07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940894" y="5038620"/>
            <a:ext cx="5792129" cy="44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hardening — TLS and basic auth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9315240" y="5009554"/>
            <a:ext cx="874234" cy="461542"/>
          </a:xfrm>
          <a:prstGeom prst="roundRect">
            <a:avLst>
              <a:gd name="adj" fmla="val 6191"/>
            </a:avLst>
          </a:prstGeom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459795" y="5077910"/>
            <a:ext cx="661322" cy="362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08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341804" y="5038620"/>
            <a:ext cx="2961079" cy="44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Tear it all down cleanly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032417"/>
            <a:ext cx="16953120" cy="1237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500" kern="0" spc="-42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01</a:t>
            </a:r>
            <a:endParaRPr lang="en-US" sz="10500" dirty="0"/>
          </a:p>
        </p:txBody>
      </p:sp>
      <p:sp>
        <p:nvSpPr>
          <p:cNvPr id="3" name="Shape 1"/>
          <p:cNvSpPr/>
          <p:nvPr/>
        </p:nvSpPr>
        <p:spPr>
          <a:xfrm>
            <a:off x="914330" y="4612446"/>
            <a:ext cx="2667000" cy="1891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30" y="5012356"/>
            <a:ext cx="15697199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200" b="1" kern="0" spc="-144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fundamentals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330" y="6269516"/>
            <a:ext cx="9810749" cy="889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any config — what your router actually sends, and why it sends it that way.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863693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01 fundamentals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764049" y="342830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basics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· NOUN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summary of traffic between two endpoints.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536906"/>
            <a:ext cx="14716124" cy="1450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router watches packets pass through an interface, groups them by 5-tuple, and periodically exports a summary record. The collector never sees the packets themselves — only the summaries.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330" y="4634508"/>
            <a:ext cx="8000999" cy="4966832"/>
          </a:xfrm>
          <a:prstGeom prst="roundRect">
            <a:avLst>
              <a:gd name="adj" fmla="val 767"/>
            </a:avLst>
          </a:prstGeom>
          <a:solidFill>
            <a:srgbClr val="0F1C34"/>
          </a:solidFill>
          <a:ln w="11206">
            <a:solidFill>
              <a:srgbClr val="2845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54031" y="4836214"/>
            <a:ext cx="774724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PACKET CAPTURE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54031" y="5308961"/>
            <a:ext cx="5510614" cy="295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byte, every packet, every header.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54031" y="5633932"/>
            <a:ext cx="3815040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 cost: catastrophic.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372494" y="4634508"/>
            <a:ext cx="8001174" cy="4966832"/>
          </a:xfrm>
          <a:prstGeom prst="roundRect">
            <a:avLst>
              <a:gd name="adj" fmla="val 767"/>
            </a:avLst>
          </a:prstGeom>
          <a:solidFill>
            <a:srgbClr val="0F1C34"/>
          </a:solidFill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12195" y="4836214"/>
            <a:ext cx="774742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RECORDS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12195" y="5308961"/>
            <a:ext cx="6782295" cy="295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Per-conversation summaries, exported on a timer.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12195" y="5633932"/>
            <a:ext cx="3391147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 cost: tractable.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863693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01 fundamentals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471295" y="342830"/>
            <a:ext cx="197857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fields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RECORD · MANY FIELDS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flow record.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3112609"/>
            <a:ext cx="5181495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04830" y="2651206"/>
            <a:ext cx="4955940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095824" y="3112609"/>
            <a:ext cx="11011005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86324" y="2651206"/>
            <a:ext cx="10960335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330" y="3721928"/>
            <a:ext cx="5181495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04830" y="3243717"/>
            <a:ext cx="4955940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IP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6095824" y="3721928"/>
            <a:ext cx="11011005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86324" y="3243717"/>
            <a:ext cx="10960335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192.168.1.10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14330" y="4320042"/>
            <a:ext cx="5181495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04830" y="3847434"/>
            <a:ext cx="4955940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 IP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6095824" y="4320042"/>
            <a:ext cx="11011005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86324" y="3847434"/>
            <a:ext cx="10960335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8.8.8.8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330" y="4918156"/>
            <a:ext cx="5181495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04830" y="4445548"/>
            <a:ext cx="4955940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6095824" y="4918156"/>
            <a:ext cx="11011005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86324" y="4445548"/>
            <a:ext cx="10960335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14330" y="5516271"/>
            <a:ext cx="5181495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04830" y="5043662"/>
            <a:ext cx="4955940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port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6095824" y="5516271"/>
            <a:ext cx="11011005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86324" y="5043662"/>
            <a:ext cx="10960335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54321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14330" y="6114384"/>
            <a:ext cx="5181495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04830" y="5641776"/>
            <a:ext cx="4955940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 port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6095824" y="6114384"/>
            <a:ext cx="11011005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86324" y="5641776"/>
            <a:ext cx="10960335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443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14330" y="6712498"/>
            <a:ext cx="5181495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04830" y="6239890"/>
            <a:ext cx="4955940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Bytes transferred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6095824" y="6712498"/>
            <a:ext cx="11011005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86324" y="6239890"/>
            <a:ext cx="10960335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142,400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914330" y="7310612"/>
            <a:ext cx="5181495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104830" y="6838004"/>
            <a:ext cx="4955940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Packets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6095824" y="7310612"/>
            <a:ext cx="11011005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86324" y="6838004"/>
            <a:ext cx="10960335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914330" y="7908726"/>
            <a:ext cx="5181495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104830" y="7436118"/>
            <a:ext cx="4955940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(in/out)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6095824" y="7908726"/>
            <a:ext cx="11011005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286324" y="7436118"/>
            <a:ext cx="10960335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ether1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1104830" y="8034232"/>
            <a:ext cx="4955940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6286324" y="8034232"/>
            <a:ext cx="10960335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2024-03-15 10:23:01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863693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01 fundamentals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349381" y="342830"/>
            <a:ext cx="1100488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NETFLOW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family, not a single protocol.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536906"/>
            <a:ext cx="14716124" cy="97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 invented it; everyone else implemented variants. Three versions you'll encounter in the wild.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330" y="4591785"/>
            <a:ext cx="2914580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42930" y="4144810"/>
            <a:ext cx="2544817" cy="351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828910" y="4591785"/>
            <a:ext cx="13277920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57510" y="4144810"/>
            <a:ext cx="13219057" cy="351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330" y="5360439"/>
            <a:ext cx="291458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2930" y="4780044"/>
            <a:ext cx="2544817" cy="447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v5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3828910" y="5360439"/>
            <a:ext cx="1327792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57510" y="4780044"/>
            <a:ext cx="13219057" cy="447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Oldest. Fixed record format. IPv4 only. Still widely supported.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14330" y="6117886"/>
            <a:ext cx="291458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42930" y="5543094"/>
            <a:ext cx="2544817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v9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3828910" y="6117886"/>
            <a:ext cx="1327792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57510" y="5543094"/>
            <a:ext cx="13219057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Template-based. Supports IPv6, MPLS, BGP fields. Flexible — and what we'll use today.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142930" y="6300542"/>
            <a:ext cx="2544817" cy="447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IPFIX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4057510" y="6300542"/>
            <a:ext cx="13219057" cy="447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"NetFlow v10" — the IETF standard. Most extensible.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14330" y="7338102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MikroTik's Traffic Flow feature speaks v5 and v9. We're picking v9.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863693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01 fundamentals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032341" y="342830"/>
            <a:ext cx="2417529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mechanics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NETFLOW EXPORT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Cache, expire, ship.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3529503"/>
            <a:ext cx="7924834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330" y="2970434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904825" y="2936816"/>
            <a:ext cx="6396825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sees a new flow on a monitored interface.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330" y="4266639"/>
            <a:ext cx="7924834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330" y="3707571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904825" y="3673953"/>
            <a:ext cx="4318714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tracks the flow in a local cache.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330" y="5395982"/>
            <a:ext cx="7924834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330" y="4444708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904825" y="4411090"/>
            <a:ext cx="7142370" cy="889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flow ends (TCP FIN/RST) or a timer fires, the record is exported to the collector.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14330" y="5574050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904825" y="5540433"/>
            <a:ext cx="7142370" cy="889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are sent over UDP. If a packet is dropped, the record is lost.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448659" y="2803572"/>
            <a:ext cx="816276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kern="0" spc="14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TIMERS TO KNOW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448659" y="3319042"/>
            <a:ext cx="7925010" cy="1492483"/>
          </a:xfrm>
          <a:prstGeom prst="roundRect">
            <a:avLst>
              <a:gd name="adj" fmla="val 2553"/>
            </a:avLst>
          </a:prstGeom>
          <a:solidFill>
            <a:srgbClr val="0F1C34"/>
          </a:solidFill>
          <a:ln w="11206">
            <a:solidFill>
              <a:srgbClr val="2845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688360" y="3520748"/>
            <a:ext cx="766897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 TIMEOUT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88360" y="3993496"/>
            <a:ext cx="7064891" cy="620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Forces an export for long-lived flows that haven't ended yet — typically every 60 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448659" y="5078191"/>
            <a:ext cx="7925010" cy="1492483"/>
          </a:xfrm>
          <a:prstGeom prst="roundRect">
            <a:avLst>
              <a:gd name="adj" fmla="val 2553"/>
            </a:avLst>
          </a:prstGeom>
          <a:solidFill>
            <a:srgbClr val="0F1C34"/>
          </a:solidFill>
          <a:ln w="11206">
            <a:solidFill>
              <a:srgbClr val="2845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688360" y="5279896"/>
            <a:ext cx="766897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INACTIVE TIMEOUT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88360" y="5752644"/>
            <a:ext cx="7630080" cy="620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Exports a record once a flow has gone idle — typically 15 s.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863693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01 fundamentals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641960" y="342830"/>
            <a:ext cx="807909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 · SAMPLED FLOW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sFlow samples; NetFlow tracks.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536906"/>
            <a:ext cx="14716124" cy="97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Rather than maintaining a flow cache, sFlow takes statistical packet samples directly from the hardware forwarding plane.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330" y="5125115"/>
            <a:ext cx="7924834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330" y="4140223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904825" y="4106605"/>
            <a:ext cx="7142370" cy="923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switch samples 1 in every </a:t>
            </a: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</a:t>
            </a: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packets — e.g. 1 in 1024.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330" y="6254458"/>
            <a:ext cx="7924834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330" y="5303183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904825" y="5269566"/>
            <a:ext cx="7142370" cy="889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sampled packet is encapsulated with interface counters and sent as a UDP datagram.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330" y="6432527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904825" y="6398909"/>
            <a:ext cx="7142370" cy="889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collector extrapolates total traffic from the samples.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448659" y="3973360"/>
            <a:ext cx="816276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kern="0" spc="14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SCALES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448659" y="4584081"/>
            <a:ext cx="8162760" cy="1315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happens in the ASIC, not the CPU. The control plane only sees the datagrams it has to export — never every packet that ever crossed an interface.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448659" y="6147302"/>
            <a:ext cx="8162760" cy="710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 why sFlow can ride 100 G interfaces without breaking a sweat.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09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863693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01 fundamentals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349381" y="342830"/>
            <a:ext cx="1100488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 BY SIDE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NetFlow vs sFlow.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3226769"/>
            <a:ext cx="4279421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93751" y="3226769"/>
            <a:ext cx="5994972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384251" y="2765366"/>
            <a:ext cx="5793821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NETFLOW / IPFIX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11188723" y="3226769"/>
            <a:ext cx="6185121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379223" y="2765366"/>
            <a:ext cx="5989675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14330" y="3836089"/>
            <a:ext cx="4279421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04830" y="3357878"/>
            <a:ext cx="4026804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5193751" y="3836089"/>
            <a:ext cx="5994972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84251" y="3357878"/>
            <a:ext cx="5793821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cache tracking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1188723" y="3836089"/>
            <a:ext cx="6185121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379223" y="3357878"/>
            <a:ext cx="5989675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Packet sampling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14330" y="4434202"/>
            <a:ext cx="4279421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04830" y="3961594"/>
            <a:ext cx="4026804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5193751" y="4434202"/>
            <a:ext cx="5994972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84251" y="3961594"/>
            <a:ext cx="5793821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Exact for tracked flows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1188723" y="4434202"/>
            <a:ext cx="6185121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379223" y="3961594"/>
            <a:ext cx="5989675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Statistical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14330" y="5032316"/>
            <a:ext cx="4279421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04830" y="4559708"/>
            <a:ext cx="4026804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need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5193751" y="5032316"/>
            <a:ext cx="5994972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84251" y="4559708"/>
            <a:ext cx="5793821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cache in software / ASIC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1188723" y="5032316"/>
            <a:ext cx="6185121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379223" y="4559708"/>
            <a:ext cx="5989675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Very low — ASIC handles it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14330" y="5630430"/>
            <a:ext cx="4279421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104830" y="5157822"/>
            <a:ext cx="4026804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High-speed fit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5193751" y="5630430"/>
            <a:ext cx="5994972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384251" y="5157822"/>
            <a:ext cx="5793821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 struggle at high rates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1188723" y="5630430"/>
            <a:ext cx="6185121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1379223" y="5157822"/>
            <a:ext cx="5989675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for it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104830" y="5755936"/>
            <a:ext cx="4026804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depth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5384251" y="5755936"/>
            <a:ext cx="5793821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metadata only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1379223" y="5755936"/>
            <a:ext cx="5989675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Includes packet header payload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914330" y="6691312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both. Akvorado happily ingests them side by side on different ports.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863693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01 fundamentals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641960" y="342830"/>
            <a:ext cx="807909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REMEMBER THESE THREE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UDP ports.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994072"/>
            <a:ext cx="533712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0" kern="0" spc="-27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2055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914330" y="4213236"/>
            <a:ext cx="53371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44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NETFLOW V5 / V9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330" y="4614372"/>
            <a:ext cx="53371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MikroTik will send here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53165" y="2994072"/>
            <a:ext cx="533712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0" kern="0" spc="-27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4739</a:t>
            </a:r>
            <a:endParaRPr lang="en-US" sz="9000" dirty="0"/>
          </a:p>
        </p:txBody>
      </p:sp>
      <p:sp>
        <p:nvSpPr>
          <p:cNvPr id="10" name="Text 8"/>
          <p:cNvSpPr/>
          <p:nvPr/>
        </p:nvSpPr>
        <p:spPr>
          <a:xfrm>
            <a:off x="6553165" y="4213236"/>
            <a:ext cx="53371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44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IPFIX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53165" y="4614372"/>
            <a:ext cx="53371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IETF standard port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191999" y="2994072"/>
            <a:ext cx="533712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0" kern="0" spc="-27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6343</a:t>
            </a:r>
            <a:endParaRPr lang="en-US" sz="9000" dirty="0"/>
          </a:p>
        </p:txBody>
      </p:sp>
      <p:sp>
        <p:nvSpPr>
          <p:cNvPr id="13" name="Text 11"/>
          <p:cNvSpPr/>
          <p:nvPr/>
        </p:nvSpPr>
        <p:spPr>
          <a:xfrm>
            <a:off x="12191999" y="4213236"/>
            <a:ext cx="53371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44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191999" y="4614372"/>
            <a:ext cx="53371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Arista will send here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330" y="4939343"/>
            <a:ext cx="14716124" cy="542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Akvorado's </a:t>
            </a:r>
            <a:r>
              <a:rPr lang="en-US" sz="2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inlet </a:t>
            </a: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listens on all three.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032417"/>
            <a:ext cx="16953120" cy="1237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500" kern="0" spc="-42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02</a:t>
            </a:r>
            <a:endParaRPr lang="en-US" sz="10500" dirty="0"/>
          </a:p>
        </p:txBody>
      </p:sp>
      <p:sp>
        <p:nvSpPr>
          <p:cNvPr id="3" name="Shape 1"/>
          <p:cNvSpPr/>
          <p:nvPr/>
        </p:nvSpPr>
        <p:spPr>
          <a:xfrm>
            <a:off x="914330" y="4612446"/>
            <a:ext cx="2667000" cy="1891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30" y="5012356"/>
            <a:ext cx="15697199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200" b="1" kern="0" spc="-144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rate math.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330" y="6269516"/>
            <a:ext cx="9810749" cy="889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number. Three downstream costs. Get the intuition right and you'll never argue about it again.</a:t>
            </a:r>
            <a:endParaRPr lang="en-US" sz="2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71292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02 sample rate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056628" y="342830"/>
            <a:ext cx="13932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semantics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THIS CAREFULLY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</a:t>
            </a:r>
            <a:r>
              <a:rPr lang="en-US" sz="4800" b="1" kern="0" spc="-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1:1024 </a:t>
            </a: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means.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803572"/>
            <a:ext cx="8162579" cy="97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hardware forwards </a:t>
            </a:r>
            <a:r>
              <a:rPr lang="en-US" sz="27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packet out of every 1024 </a:t>
            </a: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the sFlow agent for export.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57230" y="4049560"/>
            <a:ext cx="7819679" cy="889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is </a:t>
            </a:r>
            <a:r>
              <a:rPr lang="en-US" sz="22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</a:t>
            </a: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not every 1024th packet in sequence.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257230" y="5053537"/>
            <a:ext cx="7819679" cy="889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selection is what gives the samples statistical validity.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57230" y="6057515"/>
            <a:ext cx="7819679" cy="8896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collector multiplies observed bytes by N to estimate the wire total.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448659" y="2803572"/>
            <a:ext cx="816276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kern="0" spc="14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WORKED EXAMPLE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448659" y="3319042"/>
            <a:ext cx="7925010" cy="2841742"/>
          </a:xfrm>
          <a:prstGeom prst="roundRect">
            <a:avLst>
              <a:gd name="adj" fmla="val 2011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02765" y="3596948"/>
            <a:ext cx="7454548" cy="2324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sampled packet, 1500 bytes, rate = 1:1024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1500 B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×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≈ </a:t>
            </a: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 MB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that single sample represents # ~1.5 MB of wire traffic.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13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71292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02 sample rate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471295" y="342830"/>
            <a:ext cx="197857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· switch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DOES THE WORK HAPPEN?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is free. Exporting isn't.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536906"/>
            <a:ext cx="14716124" cy="97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ASIC does the sampling — that's why sFlow scales. But encapsulating and shipping the datagrams still touches the control plane.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330" y="3973360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datagrams exported per second · 1 Gbps · avg 500 B packet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330" y="4999399"/>
            <a:ext cx="3620900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04830" y="4537997"/>
            <a:ext cx="3348528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RATE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4535230" y="4999399"/>
            <a:ext cx="2951349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25730" y="4537997"/>
            <a:ext cx="2658890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PACKETS/SEC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486580" y="4999399"/>
            <a:ext cx="5386527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77080" y="4537997"/>
            <a:ext cx="5167123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EXPORTED DATAGRAMS/SEC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873107" y="4999399"/>
            <a:ext cx="4500912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063607" y="4537997"/>
            <a:ext cx="4254940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CONTROL-PLANE LOAD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330" y="5608719"/>
            <a:ext cx="362090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04830" y="5130508"/>
            <a:ext cx="3348528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1:64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4535230" y="5608719"/>
            <a:ext cx="2951349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25730" y="5130508"/>
            <a:ext cx="2658890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~250,000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7486580" y="5608719"/>
            <a:ext cx="5386527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677080" y="5130508"/>
            <a:ext cx="5167123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~3,900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2873107" y="5608719"/>
            <a:ext cx="4500912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3063607" y="5130508"/>
            <a:ext cx="4254940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14330" y="6206833"/>
            <a:ext cx="362090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04830" y="5734225"/>
            <a:ext cx="3348528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1:512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4535230" y="6206833"/>
            <a:ext cx="2951349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25730" y="5734225"/>
            <a:ext cx="2658890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~250,000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7486580" y="6206833"/>
            <a:ext cx="5386527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677080" y="5734225"/>
            <a:ext cx="5167123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~490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2873107" y="6206833"/>
            <a:ext cx="4500912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3063607" y="5734225"/>
            <a:ext cx="4254940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comfortable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14330" y="6804947"/>
            <a:ext cx="362090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104830" y="6332338"/>
            <a:ext cx="3348528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1:1024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4535230" y="6804947"/>
            <a:ext cx="2951349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25730" y="6332338"/>
            <a:ext cx="2658890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~250,000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7486580" y="6804947"/>
            <a:ext cx="5386527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677080" y="6332338"/>
            <a:ext cx="5167123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~245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2873107" y="6804947"/>
            <a:ext cx="4500912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3063607" y="6332338"/>
            <a:ext cx="4254940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1104830" y="6930453"/>
            <a:ext cx="3348528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1:4096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4725730" y="6930453"/>
            <a:ext cx="2658890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~250,000</a:t>
            </a:r>
            <a:endParaRPr lang="en-US" sz="1950" dirty="0"/>
          </a:p>
        </p:txBody>
      </p:sp>
      <p:sp>
        <p:nvSpPr>
          <p:cNvPr id="42" name="Text 40"/>
          <p:cNvSpPr/>
          <p:nvPr/>
        </p:nvSpPr>
        <p:spPr>
          <a:xfrm>
            <a:off x="7677080" y="6930453"/>
            <a:ext cx="5167123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~61</a:t>
            </a:r>
            <a:endParaRPr lang="en-US" sz="1950" dirty="0"/>
          </a:p>
        </p:txBody>
      </p:sp>
      <p:sp>
        <p:nvSpPr>
          <p:cNvPr id="43" name="Text 41"/>
          <p:cNvSpPr/>
          <p:nvPr/>
        </p:nvSpPr>
        <p:spPr>
          <a:xfrm>
            <a:off x="13063607" y="6930453"/>
            <a:ext cx="4254940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trivial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914330" y="7675329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rate doesn't change — only the export rate does. 1:512 to 1:1024 is a safe starting range on a 1 G interface.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14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71292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02 sample rate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032341" y="342830"/>
            <a:ext cx="2417529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· collector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 + KAFKA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scales with datagrams, not with line rate.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536906"/>
            <a:ext cx="14716124" cy="97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datagram gets parsed, enriched (SNMP, GeoIP, AS lookup), and pushed onto Kafka. That work is per-datagram — the underlying 10 G or 100 G is irrelevant.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330" y="4201855"/>
            <a:ext cx="28015" cy="1283949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09010" y="4239851"/>
            <a:ext cx="7859059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216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 RATE · 1:64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09010" y="4685809"/>
            <a:ext cx="7835905" cy="755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datagram rate. High CPU and memory pressure on the collector. More enrichment lookups per second.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448659" y="4201855"/>
            <a:ext cx="28015" cy="1283949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743339" y="4239851"/>
            <a:ext cx="785924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216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 RATE · 1:4096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743339" y="4685809"/>
            <a:ext cx="7476049" cy="755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datagram rate. Very low collector load — but coarser visibility. Small flows may be missed entirely.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330" y="8431550"/>
            <a:ext cx="14716124" cy="97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lab with light traffic, </a:t>
            </a:r>
            <a:r>
              <a:rPr lang="en-US" sz="27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1:256 or 1:512 </a:t>
            </a: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gives you visible results fast without overwhelming anything.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15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71292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02 sample rate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325094" y="342830"/>
            <a:ext cx="212477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· storage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CLICKHOUSE · ROWS PER DAY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sample rate, bigger disk.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536906"/>
            <a:ext cx="14716124" cy="97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enriched record from Kafka becomes a row in ClickHouse. Storage is directly proportional to samples received.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330" y="3973360"/>
            <a:ext cx="14287499" cy="1698742"/>
          </a:xfrm>
          <a:prstGeom prst="roundRect">
            <a:avLst>
              <a:gd name="adj" fmla="val 3364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68436" y="4251266"/>
            <a:ext cx="14007912" cy="1181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mental model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rows_per_day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</a:t>
            </a:r>
            <a:r>
              <a:rPr lang="en-US" sz="1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avg_pps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×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86,400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÷ </a:t>
            </a:r>
            <a:r>
              <a:rPr lang="en-US" sz="1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sample_rate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14305" y="5672102"/>
            <a:ext cx="16735565" cy="1772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ClickHouse compresses columnar data efficiently — but write amplification at very low N is still real.</a:t>
            </a:r>
            <a:endParaRPr lang="en-US" sz="2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N means more rows, more I/O, faster disk growth.</a:t>
            </a:r>
            <a:endParaRPr lang="en-US" sz="22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N means coarser data — but a stack you can leave running for months.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16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71292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02 sample rate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325094" y="342830"/>
            <a:ext cx="212477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worked example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THE MATH · THE DIFFERENCES ARE HUGE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 pps across all interfaces.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803572"/>
            <a:ext cx="8162579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kern="0" spc="14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1:1024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330" y="3319042"/>
            <a:ext cx="7924834" cy="2841742"/>
          </a:xfrm>
          <a:prstGeom prst="roundRect">
            <a:avLst>
              <a:gd name="adj" fmla="val 2011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68436" y="3596948"/>
            <a:ext cx="7454368" cy="2324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50,000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×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86,400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÷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 </a:t>
            </a: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4.2 M rows/day </a:t>
            </a: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50–150 bytes/row after compression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200–600 MB/day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14330" y="6427448"/>
            <a:ext cx="8162579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Easily manageable. Months of data on a small disk.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448659" y="2803572"/>
            <a:ext cx="816276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b="1" kern="0" spc="14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1:64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448659" y="3319042"/>
            <a:ext cx="7925010" cy="2841742"/>
          </a:xfrm>
          <a:prstGeom prst="roundRect">
            <a:avLst>
              <a:gd name="adj" fmla="val 2011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02765" y="3596948"/>
            <a:ext cx="7454548" cy="2324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50,000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×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86,400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÷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 </a:t>
            </a: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67.5 M rows/day </a:t>
            </a: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same compression assumption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3–10 GB/day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448659" y="6427448"/>
            <a:ext cx="816276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traffic. 16× the storage cost.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17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71292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02 sample rate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203004" y="342830"/>
            <a:ext cx="124686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RATE TO INTERFACE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N from your link speed.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3341104"/>
            <a:ext cx="6254458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04830" y="2879702"/>
            <a:ext cx="6061092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168788" y="3341104"/>
            <a:ext cx="4279421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59288" y="2879702"/>
            <a:ext cx="4026804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SUGGESTED RATE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48209" y="3341104"/>
            <a:ext cx="5925460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638709" y="2879702"/>
            <a:ext cx="5722224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RATIONALE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330" y="3950423"/>
            <a:ext cx="6254458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04830" y="3472212"/>
            <a:ext cx="6061092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· light traffic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7168788" y="3950423"/>
            <a:ext cx="4279421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59288" y="3472212"/>
            <a:ext cx="4026804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1:256 – 1:512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448209" y="3950423"/>
            <a:ext cx="592546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638709" y="3472212"/>
            <a:ext cx="5722224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data quickly, minimal load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330" y="4548537"/>
            <a:ext cx="6254458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04830" y="4075929"/>
            <a:ext cx="6061092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· 1 G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7168788" y="4548537"/>
            <a:ext cx="4279421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59288" y="4075929"/>
            <a:ext cx="4026804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1:1024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1448209" y="4548537"/>
            <a:ext cx="592546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638709" y="4075929"/>
            <a:ext cx="5722224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of visibility and load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14330" y="5146651"/>
            <a:ext cx="6254458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04830" y="4674043"/>
            <a:ext cx="6061092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· 10 G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7168788" y="5146651"/>
            <a:ext cx="4279421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59288" y="4674043"/>
            <a:ext cx="4026804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1:2048 – 1:4096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1448209" y="5146651"/>
            <a:ext cx="592546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638709" y="4674043"/>
            <a:ext cx="5722224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collector overload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104830" y="5272157"/>
            <a:ext cx="6061092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· 100 G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7359288" y="5272157"/>
            <a:ext cx="4026804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1:8192 – 1:16384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1638709" y="5272157"/>
            <a:ext cx="5722224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ASIC handles it; keep datagram rate sane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18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71292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02 sample rate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056628" y="342830"/>
            <a:ext cx="13932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heuristic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YOU REMEMBER NOTHING ELSE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for the comfort zone.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3763775"/>
            <a:ext cx="8241029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0" kern="0" spc="-4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200–500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914330" y="5744941"/>
            <a:ext cx="8241029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44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 DATAGRAMS PER SECOND, PER INTERFACE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72494" y="3070236"/>
            <a:ext cx="8241210" cy="97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backwards from your expected packet rate to pick N.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9372494" y="4278196"/>
            <a:ext cx="8001174" cy="1317742"/>
          </a:xfrm>
          <a:prstGeom prst="roundRect">
            <a:avLst>
              <a:gd name="adj" fmla="val 4337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726600" y="4556101"/>
            <a:ext cx="7532998" cy="80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≈ </a:t>
            </a:r>
            <a:r>
              <a:rPr lang="en-US" sz="1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avg_pps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÷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372494" y="5862602"/>
            <a:ext cx="8241210" cy="710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 datagrams/sec is right in the middle of comfortable. Anything in the 200–500 band is fine.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19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032417"/>
            <a:ext cx="16953120" cy="1237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500" kern="0" spc="-42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</a:t>
            </a:r>
            <a:endParaRPr lang="en-US" sz="10500" dirty="0"/>
          </a:p>
        </p:txBody>
      </p:sp>
      <p:sp>
        <p:nvSpPr>
          <p:cNvPr id="3" name="Shape 1"/>
          <p:cNvSpPr/>
          <p:nvPr/>
        </p:nvSpPr>
        <p:spPr>
          <a:xfrm>
            <a:off x="914330" y="4612446"/>
            <a:ext cx="2667000" cy="1891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30" y="5012356"/>
            <a:ext cx="15697199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200" b="1" kern="0" spc="-144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the stack.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330" y="6269516"/>
            <a:ext cx="9810749" cy="889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bare Ubuntu VM to running Akvorado console in roughly ten minutes of typing.</a:t>
            </a:r>
            <a:endParaRPr lang="en-US" sz="2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271152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 stand 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203004" y="342830"/>
            <a:ext cx="124686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topology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LAB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topology.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3654518"/>
            <a:ext cx="5586482" cy="1492483"/>
          </a:xfrm>
          <a:prstGeom prst="roundRect">
            <a:avLst>
              <a:gd name="adj" fmla="val 2553"/>
            </a:avLst>
          </a:prstGeom>
          <a:solidFill>
            <a:srgbClr val="0F1C34"/>
          </a:solidFill>
          <a:ln w="11206">
            <a:solidFill>
              <a:srgbClr val="2845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54031" y="3856224"/>
            <a:ext cx="5260293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DEVICES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54031" y="4328972"/>
            <a:ext cx="2408300" cy="295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MikroTik router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54031" y="4653943"/>
            <a:ext cx="2133935" cy="295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Arista switch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30533" y="5375496"/>
            <a:ext cx="5754077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export · UDP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05542" y="4436479"/>
            <a:ext cx="1061967" cy="531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2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2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──▶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8172240" y="2879736"/>
            <a:ext cx="9201430" cy="3606718"/>
          </a:xfrm>
          <a:prstGeom prst="roundRect">
            <a:avLst>
              <a:gd name="adj" fmla="val 1056"/>
            </a:avLst>
          </a:prstGeom>
          <a:solidFill>
            <a:srgbClr val="0F1C34"/>
          </a:solidFill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88105" y="3157607"/>
            <a:ext cx="8826789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VM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488105" y="3596738"/>
            <a:ext cx="8569698" cy="2104254"/>
          </a:xfrm>
          <a:prstGeom prst="roundRect">
            <a:avLst>
              <a:gd name="adj" fmla="val 1811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08721" y="3779359"/>
            <a:ext cx="837232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STACK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708721" y="4252107"/>
            <a:ext cx="2271117" cy="295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 · inlet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708721" y="4577077"/>
            <a:ext cx="2545482" cy="295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 · console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708721" y="4902048"/>
            <a:ext cx="2271117" cy="295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kafka / redpanda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708721" y="5227019"/>
            <a:ext cx="1448023" cy="295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clickhouse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88105" y="5872407"/>
            <a:ext cx="8826789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UI → http://VM-IP:8081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21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271152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 stand 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203004" y="342830"/>
            <a:ext cx="124686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VM specs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YOU START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VM enough room.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3155331"/>
            <a:ext cx="3562420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2930" y="2708356"/>
            <a:ext cx="3212092" cy="351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476750" y="3155331"/>
            <a:ext cx="7642586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05350" y="2708356"/>
            <a:ext cx="7414664" cy="351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MINIMUM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119336" y="3155331"/>
            <a:ext cx="4987843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347936" y="2708356"/>
            <a:ext cx="4680279" cy="351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RECOMMENDED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330" y="3923985"/>
            <a:ext cx="356242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2930" y="3343590"/>
            <a:ext cx="3212092" cy="447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4476750" y="3923985"/>
            <a:ext cx="764258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5350" y="3343590"/>
            <a:ext cx="7414664" cy="447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 22.04 LTS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2119336" y="3923985"/>
            <a:ext cx="4987843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347936" y="3343590"/>
            <a:ext cx="4680279" cy="447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 24.04 LTS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14330" y="4681432"/>
            <a:ext cx="356242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42930" y="4106641"/>
            <a:ext cx="3212092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4476750" y="4681432"/>
            <a:ext cx="764258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5350" y="4106641"/>
            <a:ext cx="7414664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vCPUs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2119336" y="4681432"/>
            <a:ext cx="4987843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347936" y="4106641"/>
            <a:ext cx="4680279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vCPUs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14330" y="5438880"/>
            <a:ext cx="356242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42930" y="4864088"/>
            <a:ext cx="3212092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4476750" y="5438880"/>
            <a:ext cx="764258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05350" y="4864088"/>
            <a:ext cx="7414664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GB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2119336" y="5438880"/>
            <a:ext cx="4987843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2347936" y="4864088"/>
            <a:ext cx="4680279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GB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914330" y="6196327"/>
            <a:ext cx="356242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42930" y="5621535"/>
            <a:ext cx="3212092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4476750" y="6196327"/>
            <a:ext cx="764258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05350" y="5621535"/>
            <a:ext cx="7414664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GB</a:t>
            </a:r>
            <a:endParaRPr lang="en-US" sz="2250" dirty="0"/>
          </a:p>
        </p:txBody>
      </p:sp>
      <p:sp>
        <p:nvSpPr>
          <p:cNvPr id="34" name="Shape 32"/>
          <p:cNvSpPr/>
          <p:nvPr/>
        </p:nvSpPr>
        <p:spPr>
          <a:xfrm>
            <a:off x="12119336" y="6196327"/>
            <a:ext cx="4987843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2347936" y="5621535"/>
            <a:ext cx="4680279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GB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1142930" y="6378983"/>
            <a:ext cx="3212092" cy="447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2250" dirty="0"/>
          </a:p>
        </p:txBody>
      </p:sp>
      <p:sp>
        <p:nvSpPr>
          <p:cNvPr id="37" name="Text 35"/>
          <p:cNvSpPr/>
          <p:nvPr/>
        </p:nvSpPr>
        <p:spPr>
          <a:xfrm>
            <a:off x="4705350" y="6378983"/>
            <a:ext cx="7414664" cy="447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NIC, reachable from devices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12347936" y="6378983"/>
            <a:ext cx="4680279" cy="447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IP assigned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914330" y="7416543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GB is fine for this lab. Don't use it as a production sizing reference — ClickHouse is hungry.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22</a:t>
            </a:r>
            <a:endParaRPr lang="en-US" sz="1800" dirty="0"/>
          </a:p>
        </p:txBody>
      </p:sp>
      <p:sp>
        <p:nvSpPr>
          <p:cNvPr id="42" name="Text 37">
            <a:extLst>
              <a:ext uri="{FF2B5EF4-FFF2-40B4-BE49-F238E27FC236}">
                <a16:creationId xmlns:a16="http://schemas.microsoft.com/office/drawing/2014/main" id="{58DED76D-C37D-6A67-CF6E-E23C5238812E}"/>
              </a:ext>
            </a:extLst>
          </p:cNvPr>
          <p:cNvSpPr/>
          <p:nvPr/>
        </p:nvSpPr>
        <p:spPr>
          <a:xfrm>
            <a:off x="914330" y="8194196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Tested on Ubuntu 26.04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271152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 stand 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203004" y="342830"/>
            <a:ext cx="124686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firewall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UFW OR YOUR FIREWALL OF CHOICE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ports inbound.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3379274"/>
            <a:ext cx="1492658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04830" y="2917872"/>
            <a:ext cx="1187858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2406988" y="3379274"/>
            <a:ext cx="1728332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97488" y="2917872"/>
            <a:ext cx="1423532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4135321" y="3379274"/>
            <a:ext cx="4704019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25821" y="2917872"/>
            <a:ext cx="4464140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330" y="3988594"/>
            <a:ext cx="1492658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04830" y="3510383"/>
            <a:ext cx="1187858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2055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2406988" y="3988594"/>
            <a:ext cx="1728332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97488" y="3510383"/>
            <a:ext cx="1423532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UDP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4135321" y="3988594"/>
            <a:ext cx="4704019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25821" y="3510383"/>
            <a:ext cx="4464140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NetFlow v5/v9 — MikroTik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330" y="4586708"/>
            <a:ext cx="1492658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04830" y="4114099"/>
            <a:ext cx="1187858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6343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2406988" y="4586708"/>
            <a:ext cx="1728332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597488" y="4114099"/>
            <a:ext cx="1423532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UDP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4135321" y="4586708"/>
            <a:ext cx="4704019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25821" y="4114099"/>
            <a:ext cx="4464140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sFlow — Arista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104830" y="4712213"/>
            <a:ext cx="1187858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8081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2597488" y="4712213"/>
            <a:ext cx="1423532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4325821" y="4712213"/>
            <a:ext cx="4464140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Akvorado Web UI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9448659" y="2803572"/>
            <a:ext cx="816276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them with ufw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448659" y="3253908"/>
            <a:ext cx="7925010" cy="2460742"/>
          </a:xfrm>
          <a:prstGeom prst="roundRect">
            <a:avLst>
              <a:gd name="adj" fmla="val 2322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802765" y="3531814"/>
            <a:ext cx="7454548" cy="1943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ufw allow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2055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/udp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ufw allow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6343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/udp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ufw allow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8081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/tcp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ufw status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23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271152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 stand 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495583" y="342830"/>
            <a:ext cx="95428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DOCKER'S OWN REPOSITORY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Docker Engine + Compose.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803572"/>
            <a:ext cx="8382961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the docker repo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330" y="3253908"/>
            <a:ext cx="8138797" cy="5127742"/>
          </a:xfrm>
          <a:prstGeom prst="roundRect">
            <a:avLst>
              <a:gd name="adj" fmla="val 1115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68436" y="3531814"/>
            <a:ext cx="7674749" cy="461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install -m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0755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-d /etc/apt/keyrings </a:t>
            </a: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fetch and dearmor the GPG key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curl -fsSL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https://download.docker.com/linux/ubuntu/gpg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sudo gpg --dearmor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-o /etc/apt/keyrings/docker.gpg 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register the source list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echo </a:t>
            </a: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"deb [...] stable"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sudo tee /etc/apt/sources.list.d/docker.list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662622" y="2803572"/>
            <a:ext cx="7942379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 and enable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662622" y="3253908"/>
            <a:ext cx="7711047" cy="4365741"/>
          </a:xfrm>
          <a:prstGeom prst="roundRect">
            <a:avLst>
              <a:gd name="adj" fmla="val 1309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016728" y="3531814"/>
            <a:ext cx="7234167" cy="3848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apt-get update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apt-get install -y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docker-ce docker-ce-cli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containerd.io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docker-buildx-plugin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docker-compose-plugin 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usermod -aG docker $USER 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systemctl enable --now docker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662622" y="7771979"/>
            <a:ext cx="7942379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out and back in for the group change to take effect.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24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271152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 stand 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910251" y="342830"/>
            <a:ext cx="1539618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quickstart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GRAB THE VERSION-MATCHED BUNDLE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directory &amp; quickstart bundle.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536906"/>
            <a:ext cx="14716124" cy="97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Akvorado ships a quickstart tarball with each release — a complete, version-matched compose file and example configs. Use it.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330" y="3973360"/>
            <a:ext cx="16459340" cy="4365741"/>
          </a:xfrm>
          <a:prstGeom prst="roundRect">
            <a:avLst>
              <a:gd name="adj" fmla="val 1309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68436" y="4251266"/>
            <a:ext cx="16244908" cy="3848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mkdir ~/akvorado &amp;&amp; cd ~/akvorado </a:t>
            </a: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download the latest quickstart tarball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URL=</a:t>
            </a: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https://github.com/akvorado/akvorado/releases/latest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curl -sL </a:t>
            </a: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$URL/download/docker-compose-quickstart.tar.gz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tar zxvf - 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see what you got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ls -lh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14330" y="8605767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your lab pack ships its own </a:t>
            </a: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docker-compose.yml </a:t>
            </a: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TLS &amp; basic auth pre-applied — copy it over the extracted one.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25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271152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 stand 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203004" y="342830"/>
            <a:ext cx="124686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COMPOSE FILE GIVES YOU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services. One stack.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3262838"/>
            <a:ext cx="16192499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330" y="2703769"/>
            <a:ext cx="1448045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2514670" y="2670152"/>
            <a:ext cx="6691148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application — inlet, orchestrator, console.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330" y="3999974"/>
            <a:ext cx="16192499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330" y="3440906"/>
            <a:ext cx="179105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clickhouse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2857675" y="3407289"/>
            <a:ext cx="7787282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columnar database that stores every enriched flow row.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330" y="5588759"/>
            <a:ext cx="16192499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330" y="4178043"/>
            <a:ext cx="1448045" cy="1315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kafka · or · redpanda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2514670" y="4144425"/>
            <a:ext cx="9222104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message queue between the inlet and ClickHouse. Buffers spikes.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14330" y="5766827"/>
            <a:ext cx="1619635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zookeeper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2686260" y="5733209"/>
            <a:ext cx="8204239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present if you're using Kafka. Not needed with Redpanda.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14330" y="6783060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the file before you start anything — </a:t>
            </a: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docker-compose.yml </a:t>
            </a: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and identify each service.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26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271152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 stand 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617672" y="342830"/>
            <a:ext cx="1832197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PATH INSIDE THE STACK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flow.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5714999" y="2689236"/>
            <a:ext cx="6857999" cy="1010455"/>
          </a:xfrm>
          <a:prstGeom prst="roundRect">
            <a:avLst>
              <a:gd name="adj" fmla="val 3771"/>
            </a:avLst>
          </a:prstGeom>
          <a:solidFill>
            <a:srgbClr val="0F1C34"/>
          </a:solidFill>
          <a:ln w="11206">
            <a:solidFill>
              <a:srgbClr val="2845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9022" y="2833687"/>
            <a:ext cx="656995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PACKETS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536737" y="3230271"/>
            <a:ext cx="3214525" cy="318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UDP from your devices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025707" y="3775857"/>
            <a:ext cx="236409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714999" y="4109757"/>
            <a:ext cx="6857999" cy="1010455"/>
          </a:xfrm>
          <a:prstGeom prst="roundRect">
            <a:avLst>
              <a:gd name="adj" fmla="val 3771"/>
            </a:avLst>
          </a:prstGeom>
          <a:solidFill>
            <a:srgbClr val="0F1C34"/>
          </a:solidFill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59022" y="4254208"/>
            <a:ext cx="656995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 · INLET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41766" y="4650791"/>
            <a:ext cx="5204468" cy="318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 · enrich · SNMP · GeoIP · AS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025707" y="5196378"/>
            <a:ext cx="236409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714999" y="5530278"/>
            <a:ext cx="6857999" cy="1010455"/>
          </a:xfrm>
          <a:prstGeom prst="roundRect">
            <a:avLst>
              <a:gd name="adj" fmla="val 3771"/>
            </a:avLst>
          </a:prstGeom>
          <a:solidFill>
            <a:srgbClr val="0F1C34"/>
          </a:solidFill>
          <a:ln w="11206">
            <a:solidFill>
              <a:srgbClr val="2845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59022" y="5674729"/>
            <a:ext cx="656995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KAFKA / REDPANDA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139907" y="6071311"/>
            <a:ext cx="2008185" cy="318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durable queue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025707" y="6616898"/>
            <a:ext cx="236409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5286199" y="6950798"/>
            <a:ext cx="3950073" cy="1010455"/>
          </a:xfrm>
          <a:prstGeom prst="roundRect">
            <a:avLst>
              <a:gd name="adj" fmla="val 3771"/>
            </a:avLst>
          </a:prstGeom>
          <a:solidFill>
            <a:srgbClr val="0F1C34"/>
          </a:solidFill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73840" y="7095249"/>
            <a:ext cx="3574792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 · ORCHESTRATOR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5758" y="7491832"/>
            <a:ext cx="1710956" cy="318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writes rows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579103" y="7254233"/>
            <a:ext cx="595873" cy="44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──▶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0441606" y="6950798"/>
            <a:ext cx="2560019" cy="1010455"/>
          </a:xfrm>
          <a:prstGeom prst="roundRect">
            <a:avLst>
              <a:gd name="adj" fmla="val 3771"/>
            </a:avLst>
          </a:prstGeom>
          <a:solidFill>
            <a:srgbClr val="0F1C34"/>
          </a:solidFill>
          <a:ln w="11206">
            <a:solidFill>
              <a:srgbClr val="2845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643206" y="7095249"/>
            <a:ext cx="2156817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CLICKHOUSE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643215" y="7491832"/>
            <a:ext cx="2156798" cy="318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columnar store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9025707" y="8037419"/>
            <a:ext cx="236409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85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5714999" y="8371319"/>
            <a:ext cx="6857999" cy="1010455"/>
          </a:xfrm>
          <a:prstGeom prst="roundRect">
            <a:avLst>
              <a:gd name="adj" fmla="val 3771"/>
            </a:avLst>
          </a:prstGeom>
          <a:solidFill>
            <a:srgbClr val="0F1C34"/>
          </a:solidFill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859022" y="8515770"/>
            <a:ext cx="656995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 · CONSOLE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991293" y="8912353"/>
            <a:ext cx="2305413" cy="3182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UI on :8081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27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271152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 stand 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471295" y="342830"/>
            <a:ext cx="197857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· snmp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 · HIGHLY RECOMMENDED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your interfaces names.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536906"/>
            <a:ext cx="14716124" cy="1013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SNMP, your flows arrive labelled by ifIndex. With it, you get </a:t>
            </a:r>
            <a:r>
              <a:rPr lang="en-US" sz="2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ether1 </a:t>
            </a: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2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Ethernet1 </a:t>
            </a: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readable in the UI.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330" y="3632805"/>
            <a:ext cx="16192499" cy="3971321"/>
          </a:xfrm>
          <a:prstGeom prst="roundRect">
            <a:avLst>
              <a:gd name="adj" fmla="val 2322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68436" y="3632805"/>
            <a:ext cx="15970062" cy="3971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</a:p>
          <a:p>
            <a:pPr>
              <a:lnSpc>
                <a:spcPct val="155000"/>
              </a:lnSpc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providers:</a:t>
            </a:r>
          </a:p>
          <a:p>
            <a:pPr>
              <a:lnSpc>
                <a:spcPct val="155000"/>
              </a:lnSpc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type: </a:t>
            </a:r>
            <a:r>
              <a:rPr lang="en-US" sz="1950" dirty="0" err="1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snmp</a:t>
            </a:r>
            <a:endParaRPr lang="en-US" sz="1950" dirty="0">
              <a:solidFill>
                <a:srgbClr val="CBD5E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>
              <a:lnSpc>
                <a:spcPct val="155000"/>
              </a:lnSpc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credentials:</a:t>
            </a:r>
          </a:p>
          <a:p>
            <a:pPr>
              <a:lnSpc>
                <a:spcPct val="155000"/>
              </a:lnSpc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::/0:</a:t>
            </a:r>
          </a:p>
          <a:p>
            <a:pPr>
              <a:lnSpc>
                <a:spcPct val="155000"/>
              </a:lnSpc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communities:</a:t>
            </a:r>
          </a:p>
          <a:p>
            <a:pPr>
              <a:lnSpc>
                <a:spcPct val="155000"/>
              </a:lnSpc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 public</a:t>
            </a:r>
          </a:p>
          <a:p>
            <a:pPr>
              <a:lnSpc>
                <a:spcPct val="155000"/>
              </a:lnSpc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 private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14330" y="7750071"/>
            <a:ext cx="28015" cy="1283949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09010" y="7788066"/>
            <a:ext cx="1664960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216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HEADS UP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09010" y="8234024"/>
            <a:ext cx="16219640" cy="755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config schema drifts between releases. The example file in the tarball is the authoritative reference for the version you're running.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29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271152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 stand 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617672" y="342830"/>
            <a:ext cx="1832197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iterate fast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DON'T BOUNCE THE WHOLE STACK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Restart only what changed.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536906"/>
            <a:ext cx="14716124" cy="97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files are bind-mounted from the host. The container already has the new file — it just needs to re-read it on startup.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330" y="3973360"/>
            <a:ext cx="8162579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file changed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330" y="4423697"/>
            <a:ext cx="7924834" cy="3222742"/>
          </a:xfrm>
          <a:prstGeom prst="roundRect">
            <a:avLst>
              <a:gd name="adj" fmla="val 1773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68436" y="4701603"/>
            <a:ext cx="7454368" cy="2705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docker compose restart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akvorado-outlet 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docker compose restart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akvorado-inlet 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docker compose restart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akvorado-orchestrator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14330" y="7798768"/>
            <a:ext cx="8162579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few seconds. ClickHouse and Kafka stay up.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448659" y="3973360"/>
            <a:ext cx="816276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docker-compose.yml itself changed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48659" y="4423697"/>
            <a:ext cx="7925010" cy="2841742"/>
          </a:xfrm>
          <a:prstGeom prst="roundRect">
            <a:avLst>
              <a:gd name="adj" fmla="val 2011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802765" y="4701603"/>
            <a:ext cx="7454548" cy="2324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ports, env vars, mounts # need a recreate, not a restart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docker compose up -d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--force-recreate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akvorado-outlet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448659" y="7417768"/>
            <a:ext cx="816276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 ≠ recreate. Know the difference.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30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271152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03 stand 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495583" y="342830"/>
            <a:ext cx="95428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MOMENT OF TRUTH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Pull, start, verify.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2803572"/>
            <a:ext cx="16192499" cy="5127742"/>
          </a:xfrm>
          <a:prstGeom prst="roundRect">
            <a:avLst>
              <a:gd name="adj" fmla="val 1115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68436" y="3081477"/>
            <a:ext cx="15970062" cy="461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cd ~/akvorado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docker compose up -d </a:t>
            </a: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first run will pull images — give it a few minutes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docker compose ps </a:t>
            </a:r>
            <a:r>
              <a:rPr lang="en-US" sz="19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                  STATUS   akvorado-inlet             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</a:t>
            </a:r>
            <a:r>
              <a:rPr lang="en-US" sz="19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akvorado-console           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 </a:t>
            </a:r>
            <a:r>
              <a:rPr lang="en-US" sz="19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clickhouse                 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 </a:t>
            </a:r>
            <a:r>
              <a:rPr lang="en-US" sz="19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redpanda                   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14330" y="7931313"/>
            <a:ext cx="14716124" cy="542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</a:t>
            </a:r>
            <a:r>
              <a:rPr lang="en-US" sz="2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http://&lt;YOUR-VM-IP&gt;:8081 </a:t>
            </a: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UI will be empty until flows arrive.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31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032417"/>
            <a:ext cx="16953120" cy="1237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500" kern="0" spc="-42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</a:t>
            </a:r>
            <a:endParaRPr lang="en-US" sz="10500" dirty="0"/>
          </a:p>
        </p:txBody>
      </p:sp>
      <p:sp>
        <p:nvSpPr>
          <p:cNvPr id="3" name="Shape 1"/>
          <p:cNvSpPr/>
          <p:nvPr/>
        </p:nvSpPr>
        <p:spPr>
          <a:xfrm>
            <a:off x="914330" y="4612446"/>
            <a:ext cx="2667000" cy="1891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30" y="5012356"/>
            <a:ext cx="15697199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200" b="1" kern="0" spc="-144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us some flows.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330" y="6269516"/>
            <a:ext cx="9810749" cy="889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 vendors, four config dialects. Replace every </a:t>
            </a: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&lt;AKVORADO-VM-IP&gt; </a:t>
            </a: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your VM's address.</a:t>
            </a:r>
            <a:endParaRPr lang="en-US" sz="2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12477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devices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739762" y="342830"/>
            <a:ext cx="271292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mikrotik · netflow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ROUTEROS · /IP TRAFFIC-FLOW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MikroTik — Traffic Flow.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2803572"/>
            <a:ext cx="16192499" cy="5508742"/>
          </a:xfrm>
          <a:prstGeom prst="roundRect">
            <a:avLst>
              <a:gd name="adj" fmla="val 1037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68436" y="3081477"/>
            <a:ext cx="15970062" cy="4991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enable Traffic Flow on all interfaces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/ip traffic-flow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enabled= </a:t>
            </a: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interfaces=</a:t>
            </a: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active-flow-timeout= 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1m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inactive-flow-timeout=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15s </a:t>
            </a: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pin the export version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/ip traffic-flow version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version=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</a:t>
            </a: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point it at akvorado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/ip traffic-flow target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dst-address= </a:t>
            </a: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&lt;AKVORADO-VM-IP&gt;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port=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2055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version=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14330" y="8578978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 with </a:t>
            </a: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/ip traffic-flow print </a:t>
            </a: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</a:t>
            </a: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/ip traffic-flow target print</a:t>
            </a: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33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12477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devices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032341" y="342830"/>
            <a:ext cx="2417529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mikrotik · names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QUIRK WORTH KNOWING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comments become interface names.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536906"/>
            <a:ext cx="14716124" cy="1013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MikroTik exports the </a:t>
            </a:r>
            <a:r>
              <a:rPr lang="en-US" sz="27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</a:t>
            </a: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— not the identifier (</a:t>
            </a:r>
            <a:r>
              <a:rPr lang="en-US" sz="2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ether1 </a:t>
            </a: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No comment, no readable name in Akvorado.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330" y="4006978"/>
            <a:ext cx="16192499" cy="2079742"/>
          </a:xfrm>
          <a:prstGeom prst="roundRect">
            <a:avLst>
              <a:gd name="adj" fmla="val 2748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68436" y="4284884"/>
            <a:ext cx="15970062" cy="1562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 a meaningful comment on every monitored interface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/interface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 ether1 comment=</a:t>
            </a: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"WAN-Upstream"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/interface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 ether2 comment=</a:t>
            </a: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"LAN-Core"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14330" y="654388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this </a:t>
            </a: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</a:t>
            </a: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sending flows. Otherwise your dashboards are full of blank labels and indexes.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34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12477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devices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885963" y="342830"/>
            <a:ext cx="256390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mikrotik · gotcha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ROUTEROS V7 · THE TRAP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v7 omits the sampling rate field.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536906"/>
            <a:ext cx="14716124" cy="97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RouterOS v7 doesn't include the sampling rate in its v9 export. Akvorado can't scale traffic correctly — flow volumes appear orders of magnitude lower than reality.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330" y="3973360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tell akvorado what mikrotik forgot · config/outlet.yaml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330" y="4423697"/>
            <a:ext cx="16459340" cy="1698742"/>
          </a:xfrm>
          <a:prstGeom prst="roundRect">
            <a:avLst>
              <a:gd name="adj" fmla="val 3364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68436" y="4701603"/>
            <a:ext cx="16244908" cy="1181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default-sampling-rate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14330" y="6122439"/>
            <a:ext cx="14716124" cy="97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</a:t>
            </a: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means every packet is tracked — correct for NetFlow. MikroTik records every flow, it just forgets to mention it.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330" y="7558893"/>
            <a:ext cx="6667499" cy="1317742"/>
          </a:xfrm>
          <a:prstGeom prst="roundRect">
            <a:avLst>
              <a:gd name="adj" fmla="val 4337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68436" y="7836799"/>
            <a:ext cx="6159313" cy="80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docker compose restart akvorado-outlet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35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12477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devices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325094" y="342830"/>
            <a:ext cx="212477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arista · sflow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EOS · NATIVE ASIC SAMPLING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Arista — sFlow.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2803572"/>
            <a:ext cx="16192499" cy="6797768"/>
          </a:xfrm>
          <a:prstGeom prst="roundRect">
            <a:avLst>
              <a:gd name="adj" fmla="val 841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68436" y="3081477"/>
            <a:ext cx="15970062" cy="62800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configure terminal 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1 in every 1024 packets </a:t>
            </a:r>
            <a:r>
              <a:rPr lang="en-US" sz="1950" dirty="0" err="1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sample 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 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interface counter polling, in seconds </a:t>
            </a:r>
            <a:r>
              <a:rPr lang="en-US" sz="1950" dirty="0" err="1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polling-interval 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collector destination </a:t>
            </a:r>
            <a:r>
              <a:rPr lang="en-US" sz="1950" dirty="0" err="1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destination  </a:t>
            </a: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&lt;AKVORADO-VM-IP&gt;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6343 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turn it on globally </a:t>
            </a:r>
            <a:r>
              <a:rPr lang="en-US" sz="1950" dirty="0" err="1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 </a:t>
            </a:r>
          </a:p>
          <a:p>
            <a:pPr marL="0" indent="0" algn="l">
              <a:lnSpc>
                <a:spcPct val="155000"/>
              </a:lnSpc>
              <a:buNone/>
            </a:pPr>
            <a:endParaRPr lang="en-US" sz="1950" dirty="0">
              <a:solidFill>
                <a:srgbClr val="CBD5E1"/>
              </a:solidFill>
              <a:highlight>
                <a:srgbClr val="0C1729"/>
              </a:highlight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enable per-interface (repeat as needed) </a:t>
            </a:r>
          </a:p>
          <a:p>
            <a:pPr marL="0" indent="0" algn="l">
              <a:lnSpc>
                <a:spcPct val="155000"/>
              </a:lnSpc>
              <a:buNone/>
            </a:pPr>
            <a:endParaRPr lang="en-US" sz="1950" dirty="0">
              <a:solidFill>
                <a:srgbClr val="56688A"/>
              </a:solidFill>
              <a:highlight>
                <a:srgbClr val="0C1729"/>
              </a:highlight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Ethernet1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950" dirty="0" err="1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enable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36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12477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04 devices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471295" y="342830"/>
            <a:ext cx="197857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arista · full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PRODUCTION-SHAPED EOS CONFIG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Arista — the real-world config.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2803572"/>
            <a:ext cx="16192499" cy="5889742"/>
          </a:xfrm>
          <a:prstGeom prst="roundRect">
            <a:avLst>
              <a:gd name="adj" fmla="val 970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68436" y="3081477"/>
            <a:ext cx="15970062" cy="5372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 sample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4096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 sample truncate size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 polling-interval 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 destination  </a:t>
            </a: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{ip_v4_address}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6343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 source-interface Loopback0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 extension bgp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sflow extension router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 interface disable default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sflow run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Eth1/1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sflow enable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sflow egress enable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14330" y="8959978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 with </a:t>
            </a: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sflow </a:t>
            </a: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</a:t>
            </a: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sflow interfaces</a:t>
            </a: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37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245328"/>
            <a:ext cx="16953120" cy="1237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500" kern="0" spc="-42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05</a:t>
            </a:r>
            <a:endParaRPr lang="en-US" sz="10500" dirty="0"/>
          </a:p>
        </p:txBody>
      </p:sp>
      <p:sp>
        <p:nvSpPr>
          <p:cNvPr id="3" name="Shape 1"/>
          <p:cNvSpPr/>
          <p:nvPr/>
        </p:nvSpPr>
        <p:spPr>
          <a:xfrm>
            <a:off x="914330" y="4825358"/>
            <a:ext cx="2667000" cy="1891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30" y="5225268"/>
            <a:ext cx="15697199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200" b="1" kern="0" spc="-144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330" y="6482428"/>
            <a:ext cx="9810749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places to look. From the wire to the dashboard.</a:t>
            </a:r>
            <a:endParaRPr lang="en-US" sz="2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197857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05 verify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910251" y="342830"/>
            <a:ext cx="1539618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inlet logs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PLACE TO CHECK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inlet logs.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536906"/>
            <a:ext cx="14716124" cy="979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1–2 minutes of configuring a device — depending on its active-flow timeout — you should see records arriving.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330" y="3973360"/>
            <a:ext cx="16192499" cy="3222742"/>
          </a:xfrm>
          <a:prstGeom prst="roundRect">
            <a:avLst>
              <a:gd name="adj" fmla="val 1773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68436" y="4251266"/>
            <a:ext cx="15970062" cy="2705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docker compose logs -f akvorado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grep -i  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"flow\|inlet\|receive" </a:t>
            </a:r>
            <a:r>
              <a:rPr lang="en-US" sz="19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akvorado-inlet  |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received 412 netflow records from 10.0.0.1 </a:t>
            </a:r>
            <a:r>
              <a:rPr lang="en-US" sz="19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akvorado-inlet  |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received 28 sflow samples from 10.0.0.2 </a:t>
            </a:r>
            <a:r>
              <a:rPr lang="en-US" sz="19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akvorado-inlet  |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snmp: resolved ifIndex 3 → "WAN-Upstream"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41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197857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05 verify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910251" y="342830"/>
            <a:ext cx="1539618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 check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IN DOUBT, DROP TO THE WIRE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tcpdump on the VM, not in the container.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536906"/>
            <a:ext cx="14716124" cy="508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inlet logs are silent, prove flows are even reaching the VM before blaming the stack.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330" y="3502714"/>
            <a:ext cx="8162579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incoming netflow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330" y="3953050"/>
            <a:ext cx="7924834" cy="1698742"/>
          </a:xfrm>
          <a:prstGeom prst="roundRect">
            <a:avLst>
              <a:gd name="adj" fmla="val 3364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68436" y="4230956"/>
            <a:ext cx="7454368" cy="1181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tcpdump -i any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udp port  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2055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448659" y="3502714"/>
            <a:ext cx="816276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incoming sflow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448659" y="3953050"/>
            <a:ext cx="7925010" cy="1698742"/>
          </a:xfrm>
          <a:prstGeom prst="roundRect">
            <a:avLst>
              <a:gd name="adj" fmla="val 3364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802765" y="4230956"/>
            <a:ext cx="7454548" cy="1181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tcpdump -i any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udp port  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6343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-n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14330" y="8088896"/>
            <a:ext cx="28015" cy="1283949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09010" y="8126891"/>
            <a:ext cx="1664960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216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INTERPRETING RESULTS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09010" y="8572849"/>
            <a:ext cx="15925462" cy="755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Packets here but nothing in Akvorado → problem is inside the container stack. No packets → the device isn't sending, or a firewall is in the way.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42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197857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05 verify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495583" y="342830"/>
            <a:ext cx="95428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ui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HTTP://&lt;VM-IP&gt;:8081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UI comes alive.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330" y="2536906"/>
            <a:ext cx="14716124" cy="508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a few minutes of flows arriving, refresh the console and you should see —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330" y="3961979"/>
            <a:ext cx="14287499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330" y="3402911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904825" y="3369293"/>
            <a:ext cx="7690077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and destination IPs populating the sankey diagram.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330" y="4699116"/>
            <a:ext cx="14287499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330" y="4140048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904825" y="4106430"/>
            <a:ext cx="4973184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volume graphs starting to build.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330" y="4877185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904825" y="4843567"/>
            <a:ext cx="840334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names appearing — if SNMP enrichment is configured.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14330" y="5893418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you don't see this within five minutes, the next section is for you.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43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245328"/>
            <a:ext cx="16953120" cy="1237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500" kern="0" spc="-42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06</a:t>
            </a:r>
            <a:endParaRPr lang="en-US" sz="10500" dirty="0"/>
          </a:p>
        </p:txBody>
      </p:sp>
      <p:sp>
        <p:nvSpPr>
          <p:cNvPr id="3" name="Shape 1"/>
          <p:cNvSpPr/>
          <p:nvPr/>
        </p:nvSpPr>
        <p:spPr>
          <a:xfrm>
            <a:off x="914330" y="4825358"/>
            <a:ext cx="2667000" cy="1891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30" y="5225268"/>
            <a:ext cx="15697199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200" b="1" kern="0" spc="-144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goes wrong.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330" y="6482428"/>
            <a:ext cx="9810749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checklist and a nuclear option.</a:t>
            </a:r>
            <a:endParaRPr lang="en-US" sz="22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863693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06 troubleshoot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056628" y="342830"/>
            <a:ext cx="13932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checklist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 THROUGH IT IN ORDER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checklist.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3112609"/>
            <a:ext cx="6912804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04830" y="2651206"/>
            <a:ext cx="6739188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827133" y="3112609"/>
            <a:ext cx="9546536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17633" y="2651206"/>
            <a:ext cx="9451932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330" y="3721928"/>
            <a:ext cx="6912804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04830" y="3243717"/>
            <a:ext cx="6739188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packets reaching the VM?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827133" y="3721928"/>
            <a:ext cx="954653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17633" y="3243717"/>
            <a:ext cx="9451932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tcpdump -i any udp port 2055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14330" y="4320042"/>
            <a:ext cx="6912804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04830" y="3847434"/>
            <a:ext cx="6739188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inlet running?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7827133" y="4320042"/>
            <a:ext cx="954653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17633" y="3847434"/>
            <a:ext cx="9451932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ps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330" y="4918156"/>
            <a:ext cx="6912804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04830" y="4445548"/>
            <a:ext cx="6739188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config file mounted correctly?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7827133" y="4918156"/>
            <a:ext cx="954653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017633" y="4445548"/>
            <a:ext cx="9451932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exec akvorado cat /etc/akvorado/akvorado.yaml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14330" y="5516271"/>
            <a:ext cx="6912804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04830" y="5043662"/>
            <a:ext cx="6739188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there errors in the inlet log?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7827133" y="5516271"/>
            <a:ext cx="954653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017633" y="5043662"/>
            <a:ext cx="9451932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logs akvorado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914330" y="6114384"/>
            <a:ext cx="6912804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04830" y="5641776"/>
            <a:ext cx="6739188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ClickHouse accepting writes?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7827133" y="6114384"/>
            <a:ext cx="954653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017633" y="5641776"/>
            <a:ext cx="9451932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logs clickhouse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104830" y="6239890"/>
            <a:ext cx="6739188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conflicts on the host?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8017633" y="6239890"/>
            <a:ext cx="9451932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ss -ulnp | grep -E "2055|6343|8081"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45</a:t>
            </a:r>
            <a:endParaRPr lang="en-US" sz="1800" dirty="0"/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5C7CD38B-4B8A-99B5-D129-90FB98035EBC}"/>
              </a:ext>
            </a:extLst>
          </p:cNvPr>
          <p:cNvSpPr/>
          <p:nvPr/>
        </p:nvSpPr>
        <p:spPr>
          <a:xfrm>
            <a:off x="1104830" y="6815120"/>
            <a:ext cx="6739188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SNMP settings match on the device and in the </a:t>
            </a:r>
            <a:r>
              <a:rPr lang="en-US" sz="1950" dirty="0" err="1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outlet.yaml</a:t>
            </a: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file</a:t>
            </a:r>
            <a:endParaRPr lang="en-US" sz="1950" dirty="0"/>
          </a:p>
        </p:txBody>
      </p:sp>
      <p:sp>
        <p:nvSpPr>
          <p:cNvPr id="35" name="Text 28">
            <a:extLst>
              <a:ext uri="{FF2B5EF4-FFF2-40B4-BE49-F238E27FC236}">
                <a16:creationId xmlns:a16="http://schemas.microsoft.com/office/drawing/2014/main" id="{7B7D4E85-ABD8-255D-E10C-47C17BAEFF2C}"/>
              </a:ext>
            </a:extLst>
          </p:cNvPr>
          <p:cNvSpPr/>
          <p:nvPr/>
        </p:nvSpPr>
        <p:spPr>
          <a:xfrm>
            <a:off x="1104830" y="7390350"/>
            <a:ext cx="6739188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that the router is allowing SNMP polling from the VM</a:t>
            </a:r>
            <a:endParaRPr lang="en-US" sz="1950" dirty="0"/>
          </a:p>
        </p:txBody>
      </p:sp>
      <p:sp>
        <p:nvSpPr>
          <p:cNvPr id="36" name="Text 28">
            <a:extLst>
              <a:ext uri="{FF2B5EF4-FFF2-40B4-BE49-F238E27FC236}">
                <a16:creationId xmlns:a16="http://schemas.microsoft.com/office/drawing/2014/main" id="{1758E457-23FF-930F-1351-6D33ADF38D3B}"/>
              </a:ext>
            </a:extLst>
          </p:cNvPr>
          <p:cNvSpPr/>
          <p:nvPr/>
        </p:nvSpPr>
        <p:spPr>
          <a:xfrm>
            <a:off x="1104830" y="7894080"/>
            <a:ext cx="7537146" cy="44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that the interface description matches the regex in the </a:t>
            </a:r>
            <a:r>
              <a:rPr lang="en-US" sz="1950" dirty="0" err="1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outlet.ymal</a:t>
            </a: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file</a:t>
            </a:r>
            <a:endParaRPr lang="en-US" sz="1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863693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06 troubleshoot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325094" y="342830"/>
            <a:ext cx="212477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nuclear option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NOTHING ELSE WORKS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Reset the stack — wipe everything.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2803572"/>
            <a:ext cx="14287499" cy="2079742"/>
          </a:xfrm>
          <a:prstGeom prst="roundRect">
            <a:avLst>
              <a:gd name="adj" fmla="val 2748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68436" y="3081477"/>
            <a:ext cx="14007912" cy="1562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cd ~/</a:t>
            </a:r>
            <a:r>
              <a:rPr lang="en-US" sz="1950" dirty="0" err="1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docker compose down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 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docker compose up -d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330" y="5340478"/>
            <a:ext cx="28015" cy="914155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09010" y="5378473"/>
            <a:ext cx="1664960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216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9010" y="5846844"/>
            <a:ext cx="41915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-v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623627" y="5824432"/>
            <a:ext cx="8996674" cy="351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deletes the data volumes. Every flow record you've collected is gone.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14330" y="6483128"/>
            <a:ext cx="14716124" cy="508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when the stack is in an unrecoverable state — not as a first response.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46</a:t>
            </a:r>
            <a:endParaRPr lang="en-US" sz="1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032417"/>
            <a:ext cx="16953120" cy="1237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500" kern="0" spc="-42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07</a:t>
            </a:r>
            <a:endParaRPr lang="en-US" sz="10500" dirty="0"/>
          </a:p>
        </p:txBody>
      </p:sp>
      <p:sp>
        <p:nvSpPr>
          <p:cNvPr id="3" name="Shape 1"/>
          <p:cNvSpPr/>
          <p:nvPr/>
        </p:nvSpPr>
        <p:spPr>
          <a:xfrm>
            <a:off x="914330" y="4612446"/>
            <a:ext cx="2667000" cy="1891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30" y="5012356"/>
            <a:ext cx="15697199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200" b="1" kern="0" spc="-144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hardening.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330" y="6269516"/>
            <a:ext cx="9810749" cy="889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on 8081 is fine for a lab. It is not fine on the open internet. Let's Encrypt + basic auth, via Traefik.</a:t>
            </a:r>
            <a:endParaRPr lang="en-US" sz="22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197857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07 harden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788337" y="342830"/>
            <a:ext cx="661532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 AREAS TO TOUCH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for production.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3155331"/>
            <a:ext cx="4279421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2930" y="2708356"/>
            <a:ext cx="3950604" cy="351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93751" y="3155331"/>
            <a:ext cx="3508316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22351" y="2708356"/>
            <a:ext cx="3156366" cy="351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702068" y="3155331"/>
            <a:ext cx="8671776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930668" y="2708356"/>
            <a:ext cx="8474730" cy="351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330" y="3923985"/>
            <a:ext cx="4279421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2930" y="3343590"/>
            <a:ext cx="3950604" cy="447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Traefik entrypoints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5193751" y="3923985"/>
            <a:ext cx="350831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22351" y="3343590"/>
            <a:ext cx="3156366" cy="447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:8081 only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8702068" y="3923985"/>
            <a:ext cx="867177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30668" y="3343590"/>
            <a:ext cx="8474730" cy="447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 redirect · :443 HTTPS · :8080 private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14330" y="4681432"/>
            <a:ext cx="4279421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42930" y="4106641"/>
            <a:ext cx="3950604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5193751" y="4681432"/>
            <a:ext cx="350831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22351" y="4106641"/>
            <a:ext cx="3156366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8702068" y="4681432"/>
            <a:ext cx="867177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930668" y="4106641"/>
            <a:ext cx="8474730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Let's Encrypt · ACME HTTP challenge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14330" y="5438880"/>
            <a:ext cx="4279421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42930" y="4864088"/>
            <a:ext cx="3950604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5193751" y="5438880"/>
            <a:ext cx="350831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22351" y="4864088"/>
            <a:ext cx="3156366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8702068" y="5438880"/>
            <a:ext cx="867177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930668" y="4864088"/>
            <a:ext cx="8474730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 basic auth on websecure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914330" y="6196327"/>
            <a:ext cx="4279421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42930" y="5621535"/>
            <a:ext cx="3950604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router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5193751" y="6196327"/>
            <a:ext cx="350831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22351" y="5621535"/>
            <a:ext cx="3156366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only</a:t>
            </a:r>
            <a:endParaRPr lang="en-US" sz="2250" dirty="0"/>
          </a:p>
        </p:txBody>
      </p:sp>
      <p:sp>
        <p:nvSpPr>
          <p:cNvPr id="34" name="Shape 32"/>
          <p:cNvSpPr/>
          <p:nvPr/>
        </p:nvSpPr>
        <p:spPr>
          <a:xfrm>
            <a:off x="8702068" y="6196327"/>
            <a:ext cx="8671776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930668" y="5621535"/>
            <a:ext cx="8474730" cy="4414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HTTPS, cert resolver, domain</a:t>
            </a:r>
            <a:endParaRPr lang="en-US" sz="2250" dirty="0"/>
          </a:p>
        </p:txBody>
      </p:sp>
      <p:sp>
        <p:nvSpPr>
          <p:cNvPr id="36" name="Text 34"/>
          <p:cNvSpPr/>
          <p:nvPr/>
        </p:nvSpPr>
        <p:spPr>
          <a:xfrm>
            <a:off x="1142930" y="6378983"/>
            <a:ext cx="3950604" cy="447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Volumes</a:t>
            </a:r>
            <a:endParaRPr lang="en-US" sz="2250" dirty="0"/>
          </a:p>
        </p:txBody>
      </p:sp>
      <p:sp>
        <p:nvSpPr>
          <p:cNvPr id="37" name="Text 35"/>
          <p:cNvSpPr/>
          <p:nvPr/>
        </p:nvSpPr>
        <p:spPr>
          <a:xfrm>
            <a:off x="5422351" y="6378983"/>
            <a:ext cx="3156366" cy="447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cert storage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8930668" y="6378983"/>
            <a:ext cx="8474730" cy="447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akvorado-letsencrypt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914330" y="7416543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changes live inside </a:t>
            </a: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docker-compose.yml</a:t>
            </a: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The Akvorado containers themselves don't change.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48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197857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07 harden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349381" y="342830"/>
            <a:ext cx="1100488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prereqs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NON-NEGOTIABLE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must be true.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3262838"/>
            <a:ext cx="16192499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330" y="2703769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904825" y="2670152"/>
            <a:ext cx="11165138" cy="497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22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DNS A record </a:t>
            </a: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to your VM — e.g. </a:t>
            </a:r>
            <a:r>
              <a:rPr lang="en-US" sz="2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flows.example.com → 1.2.3.4</a:t>
            </a: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330" y="3999974"/>
            <a:ext cx="16192499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330" y="3440906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904825" y="3407289"/>
            <a:ext cx="6256336" cy="497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Ports </a:t>
            </a: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</a:t>
            </a: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443 </a:t>
            </a: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open on the VM's firewall.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14330" y="4178043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904825" y="4144425"/>
            <a:ext cx="10505437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Encrypt can reach the VM over HTTP — so a private/internal IP won't work.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14330" y="5194277"/>
            <a:ext cx="28015" cy="1317567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09010" y="5232271"/>
            <a:ext cx="1664960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216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 LIMITS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09010" y="5678230"/>
            <a:ext cx="14127479" cy="351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Encrypt allows 5 certs per domain per week on production. Test against the staging endpoint first — set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5002725" y="5700642"/>
            <a:ext cx="2305413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ACME_CASERVER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209010" y="6115260"/>
            <a:ext cx="5600462" cy="351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the staging URL until your config is right.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49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197857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07 harden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471295" y="342830"/>
            <a:ext cx="197857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 · bcrypt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 AUTH · STORED AS BCRYPT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the password hash.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2803572"/>
            <a:ext cx="16192499" cy="2841742"/>
          </a:xfrm>
          <a:prstGeom prst="roundRect">
            <a:avLst>
              <a:gd name="adj" fmla="val 2011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68436" y="3081477"/>
            <a:ext cx="15970062" cy="2324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apt-get install -y apache2-utils </a:t>
            </a: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-n: write to stdout · -b: password on cli · -B: bcrypt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htpasswd -nbB flows </a:t>
            </a: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yourpassword </a:t>
            </a:r>
            <a:r>
              <a:rPr lang="en-US" sz="19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flows:$2y$05$LbR0WmEdIsh0Z8Mv2o2p1uGLN3ZViZV7b3NWAPnx/7zuaDgPP5V/2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330" y="6102478"/>
            <a:ext cx="28015" cy="1317567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09010" y="6140473"/>
            <a:ext cx="1664960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216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ESCAPE EVERY $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9010" y="6586432"/>
            <a:ext cx="3093272" cy="351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treats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4289891" y="6608844"/>
            <a:ext cx="247678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537156" y="6586432"/>
            <a:ext cx="5632524" cy="351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variable interpolation. When pasting into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0084421" y="6608844"/>
            <a:ext cx="317920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docker-compose.yml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3165686" y="6586432"/>
            <a:ext cx="939053" cy="351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every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4107942" y="6608844"/>
            <a:ext cx="247678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4353509" y="6586432"/>
            <a:ext cx="1241612" cy="351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becomes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5597665" y="6608844"/>
            <a:ext cx="41915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$$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133477" y="7055101"/>
            <a:ext cx="16514825" cy="788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 one and basic auth will loop you.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50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197857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07 harden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349381" y="342830"/>
            <a:ext cx="1100488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traefik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VARS UNDER TRAEFIK SERVICE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entrypoints. One redirect. One ACME resolver.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2803572"/>
            <a:ext cx="16459340" cy="5071712"/>
          </a:xfrm>
          <a:prstGeom prst="roundRect">
            <a:avLst>
              <a:gd name="adj" fmla="val 1127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68436" y="3081477"/>
            <a:ext cx="16244908" cy="45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public :80 → redirect to https </a:t>
            </a:r>
            <a:r>
              <a:rPr lang="en-US" sz="180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TRAEFIK_ENTRYPOINTS_public_HTTP_REDIRECTIONS_ENTRYPOINT_TO: </a:t>
            </a:r>
            <a:r>
              <a:rPr lang="en-US" sz="1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websecure </a:t>
            </a:r>
            <a:r>
              <a:rPr lang="en-US" sz="180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TRAEFIK_ENTRYPOINTS_public_HTTP_REDIRECTIONS_ENTRYPOINT_SCHEME:  </a:t>
            </a:r>
            <a:r>
              <a:rPr lang="en-US" sz="1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 </a:t>
            </a:r>
            <a:r>
              <a:rPr lang="en-US" sz="180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websecure :8443 with basic-auth + compress middleware </a:t>
            </a:r>
            <a:r>
              <a:rPr lang="en-US" sz="180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TRAEFIK_ENTRYPOINTS_websecure_ADDRESS:  </a:t>
            </a:r>
            <a:r>
              <a:rPr lang="en-US" sz="1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":8443" </a:t>
            </a:r>
            <a:r>
              <a:rPr lang="en-US" sz="180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TRAEFIK_ENTRYPOINTS_websecure_HTTP_MIDDLEWARES: </a:t>
            </a:r>
            <a:r>
              <a:rPr lang="en-US" sz="1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compress@docker,basic-auth@docker </a:t>
            </a:r>
            <a:r>
              <a:rPr lang="en-US" sz="180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let's encrypt </a:t>
            </a:r>
            <a:r>
              <a:rPr lang="en-US" sz="180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TRAEFIK_CERTIFICATESRESOLVERS_letsencrypt_ACME_EMAIL: </a:t>
            </a:r>
            <a:r>
              <a:rPr lang="en-US" sz="1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"email@example.com" </a:t>
            </a:r>
            <a:r>
              <a:rPr lang="en-US" sz="180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TRAEFIK_CERTIFICATESRESOLVERS_letsencrypt_ACME_STORAGE:  </a:t>
            </a:r>
            <a:r>
              <a:rPr lang="en-US" sz="1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"/letsencrypt/acme.json" </a:t>
            </a:r>
            <a:r>
              <a:rPr lang="en-US" sz="180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TRAEFIK_CERTIFICATESRESOLVERS_letsencrypt_ACME_HTTPCHALLENGE_ENTRYPOINT:  </a:t>
            </a:r>
            <a:r>
              <a:rPr lang="en-US" sz="1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"public"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330" y="8141948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Plus a </a:t>
            </a: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basic-auth </a:t>
            </a: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middleware label with your escaped hash, and </a:t>
            </a: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akvorado-letsencrypt </a:t>
            </a: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mounted at </a:t>
            </a: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/letsencrypt</a:t>
            </a: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51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197857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07 harden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178717" y="342830"/>
            <a:ext cx="2271152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 · https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AKVORADO-CONSOLE · LABELS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the console router to HTTPS.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2803572"/>
            <a:ext cx="16459340" cy="4376947"/>
          </a:xfrm>
          <a:prstGeom prst="roundRect">
            <a:avLst>
              <a:gd name="adj" fmla="val 1306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68436" y="3081477"/>
            <a:ext cx="16244908" cy="38592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labels:</a:t>
            </a:r>
            <a:endParaRPr lang="en-US" sz="180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traefik.enable=</a:t>
            </a:r>
            <a:endParaRPr lang="en-US" sz="180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</a:t>
            </a:r>
            <a:r>
              <a:rPr lang="en-US" sz="180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enable TLS, attach the cert resolver, declare the domain </a:t>
            </a:r>
            <a:r>
              <a:rPr lang="en-US" sz="180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traefik.http.routers.akvorado-console.tls= </a:t>
            </a:r>
            <a:r>
              <a:rPr lang="en-US" sz="1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</a:t>
            </a:r>
            <a:r>
              <a:rPr lang="en-US" sz="180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traefik.http.routers.akvorado-console.tls.certresolver=</a:t>
            </a:r>
            <a:r>
              <a:rPr lang="en-US" sz="1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letsencrypt </a:t>
            </a:r>
            <a:r>
              <a:rPr lang="en-US" sz="180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traefik.http.routers.akvorado-console.tls.domains[ </a:t>
            </a:r>
            <a:r>
              <a:rPr lang="en-US" sz="18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80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].main=</a:t>
            </a:r>
            <a:r>
              <a:rPr lang="en-US" sz="1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flows.example.com </a:t>
            </a:r>
            <a:r>
              <a:rPr lang="en-US" sz="180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move the console off the public entrypoint onto websecure </a:t>
            </a:r>
            <a:r>
              <a:rPr lang="en-US" sz="180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traefik.http.routers.akvorado-console.entrypoints= </a:t>
            </a:r>
            <a:r>
              <a:rPr lang="en-US" sz="1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websecure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330" y="7447184"/>
            <a:ext cx="16953120" cy="7104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Remote-User / Remote-Name / Remote-Email headers are static under basic auth — set them to whoever owns the dashboard.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52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197857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07 harden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641960" y="342830"/>
            <a:ext cx="807909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RECREATE · DON'T RESTART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compose change.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2803572"/>
            <a:ext cx="16192499" cy="5127742"/>
          </a:xfrm>
          <a:prstGeom prst="roundRect">
            <a:avLst>
              <a:gd name="adj" fmla="val 1115"/>
            </a:avLst>
          </a:prstGeom>
          <a:solidFill>
            <a:srgbClr val="0C1729"/>
          </a:solidFill>
          <a:ln w="11206">
            <a:solidFill>
              <a:srgbClr val="1E33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68436" y="3081477"/>
            <a:ext cx="15970062" cy="461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 the standard ports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ufw allow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/tcp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ufw allow </a:t>
            </a:r>
            <a:r>
              <a:rPr lang="en-US" sz="19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443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/tcp </a:t>
            </a: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recreate only traefik + console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docker compose up -d --force-recreate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traefik akvorado-console 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watch the cert get issued </a:t>
            </a:r>
            <a:r>
              <a:rPr lang="en-US" sz="1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docker compose logs -f traefik \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CBD5E1"/>
                </a:solidFill>
                <a:highlight>
                  <a:srgbClr val="0C1729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grep -i  </a:t>
            </a:r>
            <a:endParaRPr lang="en-US" sz="1950" dirty="0"/>
          </a:p>
          <a:p>
            <a:pPr marL="0" indent="0" algn="l">
              <a:lnSpc>
                <a:spcPct val="155000"/>
              </a:lnSpc>
              <a:buNone/>
            </a:pPr>
            <a:r>
              <a:rPr lang="en-US" sz="19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"acme\|certificate\|tls\|error"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14330" y="7931313"/>
            <a:ext cx="14716124" cy="1013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</a:t>
            </a:r>
            <a:r>
              <a:rPr lang="en-US" sz="2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https://flows.example.com </a:t>
            </a:r>
            <a:r>
              <a:rPr lang="en-US" sz="27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you should get a basic-auth prompt and a valid Let's Encrypt cert.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53</a:t>
            </a:r>
            <a:endParaRPr lang="en-US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1978574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07 harden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617672" y="342830"/>
            <a:ext cx="1832197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troubleshoot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FIVE THINGS THAT USUALLY BREAK 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troubleshooting.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3112609"/>
            <a:ext cx="5266940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04830" y="2651206"/>
            <a:ext cx="5043948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SYMPTOM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181269" y="3112609"/>
            <a:ext cx="4937767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71769" y="2651206"/>
            <a:ext cx="4704900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LIKELY CAUSE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119036" y="3112609"/>
            <a:ext cx="6254633" cy="16809"/>
          </a:xfrm>
          <a:prstGeom prst="rect">
            <a:avLst/>
          </a:prstGeom>
          <a:solidFill>
            <a:srgbClr val="2845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309536" y="2651206"/>
            <a:ext cx="6061272" cy="3852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117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330" y="3721928"/>
            <a:ext cx="526694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04830" y="3243717"/>
            <a:ext cx="5043948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 not issued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6181269" y="3721928"/>
            <a:ext cx="4937767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71769" y="3243717"/>
            <a:ext cx="4704900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not resolving to VM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119036" y="3721928"/>
            <a:ext cx="6254633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309536" y="3243717"/>
            <a:ext cx="6061272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 flows.example.com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330" y="4320042"/>
            <a:ext cx="526694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04830" y="3847434"/>
            <a:ext cx="5043948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 not issued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6181269" y="4320042"/>
            <a:ext cx="4937767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71769" y="3847434"/>
            <a:ext cx="4704900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80 not reachable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1119036" y="4320042"/>
            <a:ext cx="6254633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309536" y="3847434"/>
            <a:ext cx="6061272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 / ISP inbound :80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14330" y="4918156"/>
            <a:ext cx="526694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04830" y="4445548"/>
            <a:ext cx="5043948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"Invalid certificate"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6181269" y="4918156"/>
            <a:ext cx="4937767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71769" y="4445548"/>
            <a:ext cx="4704900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Traefik still starting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1119036" y="4918156"/>
            <a:ext cx="6254633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309536" y="4445548"/>
            <a:ext cx="6061272" cy="3964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logs traefik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14330" y="5538682"/>
            <a:ext cx="526694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04830" y="5043662"/>
            <a:ext cx="5043948" cy="418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401 Unauthorized loop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6181269" y="5538682"/>
            <a:ext cx="4937767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71769" y="5043662"/>
            <a:ext cx="4704900" cy="418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$$ </a:t>
            </a: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escaped in hash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1119036" y="5538682"/>
            <a:ext cx="6254633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1309536" y="5043662"/>
            <a:ext cx="6061272" cy="418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Re-check the basicauth label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1104830" y="5664188"/>
            <a:ext cx="5043948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not redirecting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6371769" y="5664188"/>
            <a:ext cx="4704900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Redirect env vars missing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1309536" y="5664188"/>
            <a:ext cx="6061272" cy="402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traefik environment</a:t>
            </a:r>
            <a:endParaRPr lang="en-US" sz="1950" dirty="0"/>
          </a:p>
        </p:txBody>
      </p:sp>
      <p:sp>
        <p:nvSpPr>
          <p:cNvPr id="39" name="Text 37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54</a:t>
            </a:r>
            <a:endParaRPr lang="en-US" sz="1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B9738C-24FF-3967-5503-E74EF921F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5A368F19-4A84-6D3F-1EA9-6F9AE9E3FA91}"/>
              </a:ext>
            </a:extLst>
          </p:cNvPr>
          <p:cNvSpPr/>
          <p:nvPr/>
        </p:nvSpPr>
        <p:spPr>
          <a:xfrm>
            <a:off x="914330" y="2440746"/>
            <a:ext cx="2667000" cy="1891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1751F2F-0704-210C-A179-D6EB3017C2E0}"/>
              </a:ext>
            </a:extLst>
          </p:cNvPr>
          <p:cNvSpPr/>
          <p:nvPr/>
        </p:nvSpPr>
        <p:spPr>
          <a:xfrm>
            <a:off x="914331" y="2840656"/>
            <a:ext cx="720097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200" b="1" kern="0" spc="-144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 way</a:t>
            </a:r>
            <a:endParaRPr lang="en-US" sz="7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18553E3-DCDA-6934-825B-B5D30E154A7C}"/>
              </a:ext>
            </a:extLst>
          </p:cNvPr>
          <p:cNvSpPr/>
          <p:nvPr/>
        </p:nvSpPr>
        <p:spPr>
          <a:xfrm>
            <a:off x="914330" y="6269516"/>
            <a:ext cx="15224830" cy="2325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the current ./docker/docker-</a:t>
            </a:r>
            <a:r>
              <a:rPr lang="en-US" sz="2250" dirty="0" err="1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compose.yaml</a:t>
            </a: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on your VM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8A9BB4"/>
                </a:solidFill>
                <a:latin typeface="Courier New" pitchFamily="34" charset="0"/>
                <a:cs typeface="Courier New" pitchFamily="34" charset="-120"/>
              </a:rPr>
              <a:t>Copy from the lab git repo the ./docker/docker-compose-</a:t>
            </a:r>
            <a:r>
              <a:rPr lang="en-US" sz="2250" dirty="0" err="1">
                <a:solidFill>
                  <a:srgbClr val="8A9BB4"/>
                </a:solidFill>
                <a:latin typeface="Courier New" pitchFamily="34" charset="0"/>
                <a:cs typeface="Courier New" pitchFamily="34" charset="-120"/>
              </a:rPr>
              <a:t>https.ymal</a:t>
            </a:r>
            <a:r>
              <a:rPr lang="en-US" sz="2250" dirty="0">
                <a:solidFill>
                  <a:srgbClr val="8A9BB4"/>
                </a:solidFill>
                <a:latin typeface="Courier New" pitchFamily="34" charset="0"/>
                <a:cs typeface="Courier New" pitchFamily="34" charset="-120"/>
              </a:rPr>
              <a:t> to your local .</a:t>
            </a: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/docker/docker-</a:t>
            </a:r>
            <a:r>
              <a:rPr lang="en-US" sz="2250" dirty="0" err="1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compose.yaml</a:t>
            </a:r>
            <a:r>
              <a:rPr lang="en-US" sz="2250" dirty="0">
                <a:solidFill>
                  <a:srgbClr val="8A9BB4"/>
                </a:solidFill>
                <a:latin typeface="Courier New" pitchFamily="34" charset="0"/>
                <a:cs typeface="Courier New" pitchFamily="34" charset="-120"/>
              </a:rPr>
              <a:t> </a:t>
            </a:r>
            <a:endParaRPr lang="en-US" sz="225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D2E9F4CC-670A-FDB7-29F9-4BBB5083D226}"/>
              </a:ext>
            </a:extLst>
          </p:cNvPr>
          <p:cNvSpPr/>
          <p:nvPr/>
        </p:nvSpPr>
        <p:spPr>
          <a:xfrm>
            <a:off x="914330" y="4555086"/>
            <a:ext cx="1522483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 your existing docker-</a:t>
            </a:r>
            <a:r>
              <a:rPr lang="en-US" sz="2250" dirty="0" err="1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compose.yaml</a:t>
            </a:r>
            <a:r>
              <a:rPr lang="en-US" sz="2250" dirty="0">
                <a:solidFill>
                  <a:srgbClr val="8A9BB4"/>
                </a:solidFill>
                <a:latin typeface="Courier New" pitchFamily="34" charset="0"/>
                <a:cs typeface="Courier New" pitchFamily="34" charset="-120"/>
              </a:rPr>
              <a:t> with the premade docker-compose-</a:t>
            </a:r>
            <a:r>
              <a:rPr lang="en-US" sz="2250" dirty="0" err="1">
                <a:solidFill>
                  <a:srgbClr val="8A9BB4"/>
                </a:solidFill>
                <a:latin typeface="Courier New" pitchFamily="34" charset="0"/>
                <a:cs typeface="Courier New" pitchFamily="34" charset="-120"/>
              </a:rPr>
              <a:t>https.yaml</a:t>
            </a:r>
            <a:endParaRPr lang="en-US" sz="2250" dirty="0"/>
          </a:p>
        </p:txBody>
      </p:sp>
    </p:spTree>
    <p:extLst>
      <p:ext uri="{BB962C8B-B14F-4D97-AF65-F5344CB8AC3E}">
        <p14:creationId xmlns:p14="http://schemas.microsoft.com/office/powerpoint/2010/main" val="23017166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032417"/>
            <a:ext cx="16953120" cy="12371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500" kern="0" spc="-42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08</a:t>
            </a:r>
            <a:endParaRPr lang="en-US" sz="10500" dirty="0"/>
          </a:p>
        </p:txBody>
      </p:sp>
      <p:sp>
        <p:nvSpPr>
          <p:cNvPr id="3" name="Shape 1"/>
          <p:cNvSpPr/>
          <p:nvPr/>
        </p:nvSpPr>
        <p:spPr>
          <a:xfrm>
            <a:off x="914330" y="4612446"/>
            <a:ext cx="2667000" cy="1891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30" y="5012356"/>
            <a:ext cx="15697199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7200" b="1" kern="0" spc="-144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Tear it down.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330" y="6269516"/>
            <a:ext cx="9810749" cy="889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removal — for the next lab session, or when a clean reinstall is faster than debugging.</a:t>
            </a:r>
            <a:endParaRPr lang="en-US" sz="22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2417529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 08 tear down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349381" y="342830"/>
            <a:ext cx="1100488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FOUR STEPS · LAST ONE OPTIONAL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Akvorado from the VM.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3656094"/>
            <a:ext cx="1645934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330" y="2703769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904825" y="2748593"/>
            <a:ext cx="3885689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down -v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904825" y="3186673"/>
            <a:ext cx="11869023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Containers, networks, and data volumes (ClickHouse) — the -v is what wipes the data.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330" y="4786487"/>
            <a:ext cx="1645934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330" y="3834162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904825" y="3878986"/>
            <a:ext cx="3002578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-rf ~/akvorado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904825" y="4317066"/>
            <a:ext cx="5510792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files and the working directory.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330" y="5916881"/>
            <a:ext cx="16459340" cy="11206"/>
          </a:xfrm>
          <a:prstGeom prst="rect">
            <a:avLst/>
          </a:prstGeom>
          <a:solidFill>
            <a:srgbClr val="1E3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330" y="4964556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904825" y="5009379"/>
            <a:ext cx="3709067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image prune -a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904825" y="5447459"/>
            <a:ext cx="4662992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Cached images you no longer need.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330" y="6094949"/>
            <a:ext cx="838200" cy="463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904825" y="6139772"/>
            <a:ext cx="3709067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50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 purge docker-ce …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904825" y="6577853"/>
            <a:ext cx="7347602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Optional. Only if you want Docker itself off the VM.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330" y="7504439"/>
            <a:ext cx="28015" cy="880537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09010" y="7542434"/>
            <a:ext cx="1664960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216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DON'T USE DOCKER SYSTEM PRUNE --VOLUMES IF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09010" y="7988393"/>
            <a:ext cx="12186790" cy="3518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Docker projects share this VM. It removes everything Docker-related, not just Akvorado.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56</a:t>
            </a:r>
            <a:endParaRPr lang="en-US" sz="1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342830"/>
            <a:ext cx="1100488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325094" y="342830"/>
            <a:ext cx="2124775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built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330" y="838165"/>
            <a:ext cx="16953120" cy="3742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</a:t>
            </a:r>
            <a:r>
              <a:rPr lang="en-US" sz="1800" kern="0" spc="324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HOURS LATER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330" y="1441006"/>
            <a:ext cx="14716124" cy="676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kern="0" spc="-72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walked out with.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14330" y="2879736"/>
            <a:ext cx="7924834" cy="1492483"/>
          </a:xfrm>
          <a:prstGeom prst="roundRect">
            <a:avLst>
              <a:gd name="adj" fmla="val 2553"/>
            </a:avLst>
          </a:prstGeom>
          <a:solidFill>
            <a:srgbClr val="0F1C34"/>
          </a:solidFill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54031" y="3081442"/>
            <a:ext cx="766879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RUNNING STACK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54031" y="3554191"/>
            <a:ext cx="5793210" cy="295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 · ClickHouse · Kafka, in Docker.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54031" y="3879161"/>
            <a:ext cx="1454523" cy="295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live 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663036" y="3879161"/>
            <a:ext cx="762112" cy="2958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:8081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48948" y="3879161"/>
            <a:ext cx="213382" cy="295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48659" y="2879736"/>
            <a:ext cx="7925010" cy="1492483"/>
          </a:xfrm>
          <a:prstGeom prst="roundRect">
            <a:avLst>
              <a:gd name="adj" fmla="val 2553"/>
            </a:avLst>
          </a:prstGeom>
          <a:solidFill>
            <a:srgbClr val="0F1C34"/>
          </a:solidFill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88360" y="3081442"/>
            <a:ext cx="766897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FLOWS IN THE PIPE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88360" y="3554191"/>
            <a:ext cx="5510614" cy="295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least one router or switch exporting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88360" y="3879161"/>
            <a:ext cx="5228018" cy="295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NetFlow or sFlow into your collector.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330" y="4715050"/>
            <a:ext cx="7924834" cy="1492483"/>
          </a:xfrm>
          <a:prstGeom prst="roundRect">
            <a:avLst>
              <a:gd name="adj" fmla="val 2553"/>
            </a:avLst>
          </a:prstGeom>
          <a:solidFill>
            <a:srgbClr val="0F1C34"/>
          </a:solidFill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54031" y="4916756"/>
            <a:ext cx="766879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RIGHT 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54031" y="5389504"/>
            <a:ext cx="5086721" cy="295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Intuition for sample rate trade-offs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54031" y="5714474"/>
            <a:ext cx="4945422" cy="295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across switch, collector, and disk.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48659" y="4715050"/>
            <a:ext cx="7925010" cy="1492483"/>
          </a:xfrm>
          <a:prstGeom prst="roundRect">
            <a:avLst>
              <a:gd name="adj" fmla="val 2553"/>
            </a:avLst>
          </a:prstGeom>
          <a:solidFill>
            <a:srgbClr val="0F1C34"/>
          </a:solidFill>
          <a:ln w="11206">
            <a:solidFill>
              <a:srgbClr val="166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88360" y="4916756"/>
            <a:ext cx="7668976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PATH TO PRODUCTION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88360" y="5389504"/>
            <a:ext cx="5228018" cy="295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Traefik + Let's Encrypt + basic auth,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88360" y="5714474"/>
            <a:ext cx="4097636" cy="295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 when you leave the lab.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330" y="9619199"/>
            <a:ext cx="3767941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akvorado-lab · don jolley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764049" y="9619199"/>
            <a:ext cx="1685820" cy="363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72" dirty="0">
                <a:solidFill>
                  <a:srgbClr val="566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57</a:t>
            </a:r>
            <a:endParaRPr lang="en-US" sz="1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330" y="838165"/>
            <a:ext cx="16953120" cy="39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kern="0" spc="35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 · REFERENCES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330" y="3199279"/>
            <a:ext cx="16953120" cy="1483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0" b="1" kern="0" spc="-42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r>
              <a:rPr lang="en-US" sz="12000" b="1" kern="0" spc="-42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914330" y="5254333"/>
            <a:ext cx="13735049" cy="1293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akvorado.net/docs · github.com/akvorado/akvorado · lab guide in your pack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330" y="8930912"/>
            <a:ext cx="7418297" cy="44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 Jolley </a:t>
            </a: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ZANOG · thanks for coming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487404" y="8930912"/>
            <a:ext cx="1962465" cy="441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250" dirty="0">
                <a:solidFill>
                  <a:srgbClr val="8A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of deck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4694</Words>
  <Application>Microsoft Macintosh PowerPoint</Application>
  <PresentationFormat>Custom</PresentationFormat>
  <Paragraphs>842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Donald Jolley</cp:lastModifiedBy>
  <cp:revision>4</cp:revision>
  <dcterms:created xsi:type="dcterms:W3CDTF">2026-05-28T09:20:22Z</dcterms:created>
  <dcterms:modified xsi:type="dcterms:W3CDTF">2026-05-29T14:21:12Z</dcterms:modified>
</cp:coreProperties>
</file>